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2" r:id="rId25"/>
    <p:sldId id="280" r:id="rId26"/>
    <p:sldId id="281" r:id="rId27"/>
  </p:sldIdLst>
  <p:sldSz cx="18288000" cy="10287000"/>
  <p:notesSz cx="6858000" cy="9144000"/>
  <p:embeddedFontLst>
    <p:embeddedFont>
      <p:font typeface="Antonio Ultra-Bold" panose="020B0604020202020204" charset="0"/>
      <p:regular r:id="rId28"/>
    </p:embeddedFont>
    <p:embeddedFont>
      <p:font typeface="Canva Sans Bold" panose="020B0604020202020204" charset="0"/>
      <p:regular r:id="rId29"/>
    </p:embeddedFont>
    <p:embeddedFont>
      <p:font typeface="Poppins" panose="00000500000000000000" pitchFamily="2" charset="0"/>
      <p:regular r:id="rId30"/>
      <p:bold r:id="rId31"/>
    </p:embeddedFont>
    <p:embeddedFont>
      <p:font typeface="Poppins Bold" panose="00000800000000000000" charset="0"/>
      <p:regular r:id="rId32"/>
    </p:embeddedFont>
    <p:embeddedFont>
      <p:font typeface="Poppins Bold Italics"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bing.com/ck/a?!&amp;&amp;p=4eef4bf03ec8c5c9a8f3a3978f1123080216c51a53008aa3e618b325ad68628bJmltdHM9MTc2NTIzODQwMA&amp;ptn=3&amp;ver=2&amp;hsh=4&amp;fclid=00b3f885-711f-64ab-2193-ea05708265ea&amp;psq=unified+threat+management+meaning&amp;u=a1aHR0cHM6Ly93d3cuZm9ydGluZXQuY29tL3Jlc291cmNlcy9jeWJlcmdsb3NzYXJ5L3VuaWZpZWQtdGhyZWF0LW1hbmFnZW1lbnQ&amp;ntb=1" TargetMode="External"/><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3320025" y="5368067"/>
            <a:ext cx="11711845" cy="1041479"/>
            <a:chOff x="0" y="0"/>
            <a:chExt cx="3084601" cy="274299"/>
          </a:xfrm>
        </p:grpSpPr>
        <p:sp>
          <p:nvSpPr>
            <p:cNvPr id="4" name="Freeform 4"/>
            <p:cNvSpPr/>
            <p:nvPr/>
          </p:nvSpPr>
          <p:spPr>
            <a:xfrm>
              <a:off x="0" y="0"/>
              <a:ext cx="3084601" cy="274299"/>
            </a:xfrm>
            <a:custGeom>
              <a:avLst/>
              <a:gdLst/>
              <a:ahLst/>
              <a:cxnLst/>
              <a:rect l="l" t="t" r="r" b="b"/>
              <a:pathLst>
                <a:path w="3084601" h="274299">
                  <a:moveTo>
                    <a:pt x="17187" y="0"/>
                  </a:moveTo>
                  <a:lnTo>
                    <a:pt x="3067414" y="0"/>
                  </a:lnTo>
                  <a:cubicBezTo>
                    <a:pt x="3071973" y="0"/>
                    <a:pt x="3076344" y="1811"/>
                    <a:pt x="3079567" y="5034"/>
                  </a:cubicBezTo>
                  <a:cubicBezTo>
                    <a:pt x="3082791" y="8257"/>
                    <a:pt x="3084601" y="12629"/>
                    <a:pt x="3084601" y="17187"/>
                  </a:cubicBezTo>
                  <a:lnTo>
                    <a:pt x="3084601" y="257112"/>
                  </a:lnTo>
                  <a:cubicBezTo>
                    <a:pt x="3084601" y="261670"/>
                    <a:pt x="3082791" y="266042"/>
                    <a:pt x="3079567" y="269265"/>
                  </a:cubicBezTo>
                  <a:cubicBezTo>
                    <a:pt x="3076344" y="272488"/>
                    <a:pt x="3071973" y="274299"/>
                    <a:pt x="3067414" y="274299"/>
                  </a:cubicBezTo>
                  <a:lnTo>
                    <a:pt x="17187" y="274299"/>
                  </a:lnTo>
                  <a:cubicBezTo>
                    <a:pt x="12629" y="274299"/>
                    <a:pt x="8257" y="272488"/>
                    <a:pt x="5034" y="269265"/>
                  </a:cubicBezTo>
                  <a:cubicBezTo>
                    <a:pt x="1811" y="266042"/>
                    <a:pt x="0" y="261670"/>
                    <a:pt x="0" y="257112"/>
                  </a:cubicBezTo>
                  <a:lnTo>
                    <a:pt x="0" y="17187"/>
                  </a:lnTo>
                  <a:cubicBezTo>
                    <a:pt x="0" y="12629"/>
                    <a:pt x="1811" y="8257"/>
                    <a:pt x="5034" y="5034"/>
                  </a:cubicBezTo>
                  <a:cubicBezTo>
                    <a:pt x="8257" y="1811"/>
                    <a:pt x="12629" y="0"/>
                    <a:pt x="17187" y="0"/>
                  </a:cubicBezTo>
                  <a:close/>
                </a:path>
              </a:pathLst>
            </a:custGeom>
            <a:solidFill>
              <a:srgbClr val="7ED957"/>
            </a:solidFill>
          </p:spPr>
          <p:txBody>
            <a:bodyPr/>
            <a:lstStyle/>
            <a:p>
              <a:endParaRPr lang="en-US"/>
            </a:p>
          </p:txBody>
        </p:sp>
        <p:sp>
          <p:nvSpPr>
            <p:cNvPr id="5" name="TextBox 5"/>
            <p:cNvSpPr txBox="1"/>
            <p:nvPr/>
          </p:nvSpPr>
          <p:spPr>
            <a:xfrm>
              <a:off x="0" y="-19050"/>
              <a:ext cx="3084601" cy="293349"/>
            </a:xfrm>
            <a:prstGeom prst="rect">
              <a:avLst/>
            </a:prstGeom>
          </p:spPr>
          <p:txBody>
            <a:bodyPr lIns="50800" tIns="50800" rIns="50800" bIns="50800" rtlCol="0" anchor="ctr"/>
            <a:lstStyle/>
            <a:p>
              <a:pPr algn="ctr">
                <a:lnSpc>
                  <a:spcPts val="2783"/>
                </a:lnSpc>
              </a:pPr>
              <a:endParaRPr/>
            </a:p>
          </p:txBody>
        </p:sp>
      </p:grpSp>
      <p:sp>
        <p:nvSpPr>
          <p:cNvPr id="6" name="Freeform 6"/>
          <p:cNvSpPr/>
          <p:nvPr/>
        </p:nvSpPr>
        <p:spPr>
          <a:xfrm>
            <a:off x="-2013680" y="7388324"/>
            <a:ext cx="4027360" cy="4114800"/>
          </a:xfrm>
          <a:custGeom>
            <a:avLst/>
            <a:gdLst/>
            <a:ahLst/>
            <a:cxnLst/>
            <a:rect l="l" t="t" r="r" b="b"/>
            <a:pathLst>
              <a:path w="4027360" h="4114800">
                <a:moveTo>
                  <a:pt x="0" y="0"/>
                </a:moveTo>
                <a:lnTo>
                  <a:pt x="4027360" y="0"/>
                </a:lnTo>
                <a:lnTo>
                  <a:pt x="402736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6274320" y="7200900"/>
            <a:ext cx="4027360" cy="4114800"/>
          </a:xfrm>
          <a:custGeom>
            <a:avLst/>
            <a:gdLst/>
            <a:ahLst/>
            <a:cxnLst/>
            <a:rect l="l" t="t" r="r" b="b"/>
            <a:pathLst>
              <a:path w="4027360" h="4114800">
                <a:moveTo>
                  <a:pt x="0" y="0"/>
                </a:moveTo>
                <a:lnTo>
                  <a:pt x="4027360" y="0"/>
                </a:lnTo>
                <a:lnTo>
                  <a:pt x="402736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a:off x="-3305521" y="-1897664"/>
            <a:ext cx="5773316" cy="4114800"/>
          </a:xfrm>
          <a:custGeom>
            <a:avLst/>
            <a:gdLst/>
            <a:ahLst/>
            <a:cxnLst/>
            <a:rect l="l" t="t" r="r" b="b"/>
            <a:pathLst>
              <a:path w="5773316" h="4114800">
                <a:moveTo>
                  <a:pt x="0" y="0"/>
                </a:moveTo>
                <a:lnTo>
                  <a:pt x="5773316" y="0"/>
                </a:lnTo>
                <a:lnTo>
                  <a:pt x="577331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1738277" y="2921818"/>
            <a:ext cx="14811446" cy="2446249"/>
          </a:xfrm>
          <a:prstGeom prst="rect">
            <a:avLst/>
          </a:prstGeom>
        </p:spPr>
        <p:txBody>
          <a:bodyPr lIns="0" tIns="0" rIns="0" bIns="0" rtlCol="0" anchor="t">
            <a:spAutoFit/>
          </a:bodyPr>
          <a:lstStyle/>
          <a:p>
            <a:pPr algn="ctr">
              <a:lnSpc>
                <a:spcPts val="19192"/>
              </a:lnSpc>
              <a:spcBef>
                <a:spcPct val="0"/>
              </a:spcBef>
            </a:pPr>
            <a:r>
              <a:rPr lang="en-US" sz="16545" b="1">
                <a:solidFill>
                  <a:srgbClr val="FFFFFF"/>
                </a:solidFill>
                <a:latin typeface="Antonio Ultra-Bold"/>
                <a:ea typeface="Antonio Ultra-Bold"/>
                <a:cs typeface="Antonio Ultra-Bold"/>
                <a:sym typeface="Antonio Ultra-Bold"/>
              </a:rPr>
              <a:t>MIKROTIK</a:t>
            </a:r>
          </a:p>
        </p:txBody>
      </p:sp>
      <p:sp>
        <p:nvSpPr>
          <p:cNvPr id="10" name="TextBox 10"/>
          <p:cNvSpPr txBox="1"/>
          <p:nvPr/>
        </p:nvSpPr>
        <p:spPr>
          <a:xfrm>
            <a:off x="3485030" y="5468782"/>
            <a:ext cx="11317941" cy="725749"/>
          </a:xfrm>
          <a:prstGeom prst="rect">
            <a:avLst/>
          </a:prstGeom>
        </p:spPr>
        <p:txBody>
          <a:bodyPr lIns="0" tIns="0" rIns="0" bIns="0" rtlCol="0" anchor="t">
            <a:spAutoFit/>
          </a:bodyPr>
          <a:lstStyle/>
          <a:p>
            <a:pPr algn="ctr">
              <a:lnSpc>
                <a:spcPts val="5673"/>
              </a:lnSpc>
            </a:pPr>
            <a:r>
              <a:rPr lang="en-US" sz="4052" b="1" u="sng" dirty="0">
                <a:solidFill>
                  <a:srgbClr val="FFFFFF"/>
                </a:solidFill>
                <a:latin typeface="Poppins Bold"/>
                <a:ea typeface="Poppins Bold"/>
                <a:cs typeface="Poppins Bold"/>
                <a:sym typeface="Poppins Bold"/>
                <a:hlinkClick r:id="rId7" tooltip="https://www.bing.com/ck/a?!&amp;&amp;p=4eef4bf03ec8c5c9a8f3a3978f1123080216c51a53008aa3e618b325ad68628bJmltdHM9MTc2NTIzODQwMA&amp;ptn=3&amp;ver=2&amp;hsh=4&amp;fclid=00b3f885-711f-64ab-2193-ea05708265ea&amp;psq=unified+threat+management+meaning&amp;u=a1aHR0cHM6Ly93d3cuZm9ydGluZXQuY29tL3Jlc291cmNlcy9jeWJlcmdsb3NzYXJ5L3VuaWZpZWQtdGhyZWF0LW1hbmFnZW1lbnQ&amp;ntb=1"/>
              </a:rPr>
              <a:t>Unified Threat Management (UTM) </a:t>
            </a:r>
          </a:p>
        </p:txBody>
      </p:sp>
      <p:sp>
        <p:nvSpPr>
          <p:cNvPr id="11" name="TextBox 11"/>
          <p:cNvSpPr txBox="1"/>
          <p:nvPr/>
        </p:nvSpPr>
        <p:spPr>
          <a:xfrm>
            <a:off x="1211780" y="1127985"/>
            <a:ext cx="5833017" cy="424815"/>
          </a:xfrm>
          <a:prstGeom prst="rect">
            <a:avLst/>
          </a:prstGeom>
        </p:spPr>
        <p:txBody>
          <a:bodyPr lIns="0" tIns="0" rIns="0" bIns="0" rtlCol="0" anchor="t">
            <a:spAutoFit/>
          </a:bodyPr>
          <a:lstStyle/>
          <a:p>
            <a:pPr algn="l">
              <a:lnSpc>
                <a:spcPts val="3359"/>
              </a:lnSpc>
            </a:pPr>
            <a:r>
              <a:rPr lang="en-US" sz="2400" spc="-48">
                <a:solidFill>
                  <a:srgbClr val="FFFFFF"/>
                </a:solidFill>
                <a:latin typeface="Poppins"/>
                <a:ea typeface="Poppins"/>
                <a:cs typeface="Poppins"/>
                <a:sym typeface="Poppins"/>
              </a:rPr>
              <a:t>MIKROTIK</a:t>
            </a:r>
          </a:p>
        </p:txBody>
      </p:sp>
      <p:sp>
        <p:nvSpPr>
          <p:cNvPr id="12" name="TextBox 12"/>
          <p:cNvSpPr txBox="1"/>
          <p:nvPr/>
        </p:nvSpPr>
        <p:spPr>
          <a:xfrm>
            <a:off x="11182621" y="1127985"/>
            <a:ext cx="5833017" cy="424815"/>
          </a:xfrm>
          <a:prstGeom prst="rect">
            <a:avLst/>
          </a:prstGeom>
        </p:spPr>
        <p:txBody>
          <a:bodyPr lIns="0" tIns="0" rIns="0" bIns="0" rtlCol="0" anchor="t">
            <a:spAutoFit/>
          </a:bodyPr>
          <a:lstStyle/>
          <a:p>
            <a:pPr algn="r">
              <a:lnSpc>
                <a:spcPts val="3359"/>
              </a:lnSpc>
            </a:pPr>
            <a:r>
              <a:rPr lang="en-US" sz="2400" spc="-48">
                <a:solidFill>
                  <a:srgbClr val="FFFFFF"/>
                </a:solidFill>
                <a:latin typeface="Poppins"/>
                <a:ea typeface="Poppins"/>
                <a:cs typeface="Poppins"/>
                <a:sym typeface="Poppins"/>
              </a:rPr>
              <a:t>December 2025</a:t>
            </a:r>
          </a:p>
        </p:txBody>
      </p:sp>
      <p:sp>
        <p:nvSpPr>
          <p:cNvPr id="13" name="TextBox 13"/>
          <p:cNvSpPr txBox="1"/>
          <p:nvPr/>
        </p:nvSpPr>
        <p:spPr>
          <a:xfrm>
            <a:off x="5586142" y="6561946"/>
            <a:ext cx="7179610" cy="424815"/>
          </a:xfrm>
          <a:prstGeom prst="rect">
            <a:avLst/>
          </a:prstGeom>
        </p:spPr>
        <p:txBody>
          <a:bodyPr lIns="0" tIns="0" rIns="0" bIns="0" rtlCol="0" anchor="t">
            <a:spAutoFit/>
          </a:bodyPr>
          <a:lstStyle/>
          <a:p>
            <a:pPr algn="ctr">
              <a:lnSpc>
                <a:spcPts val="3359"/>
              </a:lnSpc>
            </a:pPr>
            <a:r>
              <a:rPr lang="en-US" sz="2400" b="1" i="1" spc="-48">
                <a:solidFill>
                  <a:srgbClr val="FFFFFF"/>
                </a:solidFill>
                <a:latin typeface="Poppins Bold Italics"/>
                <a:ea typeface="Poppins Bold Italics"/>
                <a:cs typeface="Poppins Bold Italics"/>
                <a:sym typeface="Poppins Bold Italics"/>
              </a:rPr>
              <a:t>Presented by Mark Jeryl H. Omandam BSIT-4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9144000" y="7181656"/>
            <a:ext cx="7176798" cy="2246653"/>
            <a:chOff x="0" y="0"/>
            <a:chExt cx="1890185" cy="591711"/>
          </a:xfrm>
        </p:grpSpPr>
        <p:sp>
          <p:nvSpPr>
            <p:cNvPr id="3" name="Freeform 3"/>
            <p:cNvSpPr/>
            <p:nvPr/>
          </p:nvSpPr>
          <p:spPr>
            <a:xfrm>
              <a:off x="0" y="0"/>
              <a:ext cx="1890186" cy="591711"/>
            </a:xfrm>
            <a:custGeom>
              <a:avLst/>
              <a:gdLst/>
              <a:ahLst/>
              <a:cxnLst/>
              <a:rect l="l" t="t" r="r" b="b"/>
              <a:pathLst>
                <a:path w="1890186" h="591711">
                  <a:moveTo>
                    <a:pt x="0" y="0"/>
                  </a:moveTo>
                  <a:lnTo>
                    <a:pt x="1890186" y="0"/>
                  </a:lnTo>
                  <a:lnTo>
                    <a:pt x="1890186" y="591711"/>
                  </a:lnTo>
                  <a:lnTo>
                    <a:pt x="0" y="591711"/>
                  </a:lnTo>
                  <a:close/>
                </a:path>
              </a:pathLst>
            </a:custGeom>
            <a:solidFill>
              <a:srgbClr val="FFFFFF"/>
            </a:solidFill>
          </p:spPr>
          <p:txBody>
            <a:bodyPr/>
            <a:lstStyle/>
            <a:p>
              <a:endParaRPr lang="en-US"/>
            </a:p>
          </p:txBody>
        </p:sp>
        <p:sp>
          <p:nvSpPr>
            <p:cNvPr id="4" name="TextBox 4"/>
            <p:cNvSpPr txBox="1"/>
            <p:nvPr/>
          </p:nvSpPr>
          <p:spPr>
            <a:xfrm>
              <a:off x="0" y="-66675"/>
              <a:ext cx="1890185" cy="658386"/>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234271" y="2599799"/>
            <a:ext cx="8084554" cy="4544327"/>
          </a:xfrm>
          <a:custGeom>
            <a:avLst/>
            <a:gdLst/>
            <a:ahLst/>
            <a:cxnLst/>
            <a:rect l="l" t="t" r="r" b="b"/>
            <a:pathLst>
              <a:path w="8084554" h="4544327">
                <a:moveTo>
                  <a:pt x="0" y="0"/>
                </a:moveTo>
                <a:lnTo>
                  <a:pt x="8084554" y="0"/>
                </a:lnTo>
                <a:lnTo>
                  <a:pt x="8084554" y="4544327"/>
                </a:lnTo>
                <a:lnTo>
                  <a:pt x="0" y="4544327"/>
                </a:lnTo>
                <a:lnTo>
                  <a:pt x="0" y="0"/>
                </a:lnTo>
                <a:close/>
              </a:path>
            </a:pathLst>
          </a:custGeom>
          <a:blipFill>
            <a:blip r:embed="rId2"/>
            <a:stretch>
              <a:fillRect/>
            </a:stretch>
          </a:blipFill>
        </p:spPr>
        <p:txBody>
          <a:bodyPr/>
          <a:lstStyle/>
          <a:p>
            <a:endParaRPr lang="en-US"/>
          </a:p>
        </p:txBody>
      </p:sp>
      <p:sp>
        <p:nvSpPr>
          <p:cNvPr id="6" name="TextBox 6"/>
          <p:cNvSpPr txBox="1"/>
          <p:nvPr/>
        </p:nvSpPr>
        <p:spPr>
          <a:xfrm>
            <a:off x="9144000" y="1534014"/>
            <a:ext cx="8295306" cy="1324747"/>
          </a:xfrm>
          <a:prstGeom prst="rect">
            <a:avLst/>
          </a:prstGeom>
        </p:spPr>
        <p:txBody>
          <a:bodyPr lIns="0" tIns="0" rIns="0" bIns="0" rtlCol="0" anchor="t">
            <a:spAutoFit/>
          </a:bodyPr>
          <a:lstStyle/>
          <a:p>
            <a:pPr algn="l">
              <a:lnSpc>
                <a:spcPts val="10304"/>
              </a:lnSpc>
            </a:pPr>
            <a:r>
              <a:rPr lang="en-US" sz="7360" b="1">
                <a:solidFill>
                  <a:srgbClr val="FFFFFF"/>
                </a:solidFill>
                <a:latin typeface="Poppins Bold"/>
                <a:ea typeface="Poppins Bold"/>
                <a:cs typeface="Poppins Bold"/>
                <a:sym typeface="Poppins Bold"/>
              </a:rPr>
              <a:t>Introduction.</a:t>
            </a:r>
          </a:p>
        </p:txBody>
      </p:sp>
      <p:sp>
        <p:nvSpPr>
          <p:cNvPr id="7" name="TextBox 7"/>
          <p:cNvSpPr txBox="1"/>
          <p:nvPr/>
        </p:nvSpPr>
        <p:spPr>
          <a:xfrm>
            <a:off x="8518560" y="3159468"/>
            <a:ext cx="8920746" cy="3664332"/>
          </a:xfrm>
          <a:prstGeom prst="rect">
            <a:avLst/>
          </a:prstGeom>
        </p:spPr>
        <p:txBody>
          <a:bodyPr lIns="0" tIns="0" rIns="0" bIns="0" rtlCol="0" anchor="t">
            <a:spAutoFit/>
          </a:bodyPr>
          <a:lstStyle/>
          <a:p>
            <a:pPr algn="just">
              <a:lnSpc>
                <a:spcPts val="2934"/>
              </a:lnSpc>
            </a:pPr>
            <a:r>
              <a:rPr lang="en-US" sz="2096">
                <a:solidFill>
                  <a:srgbClr val="FFFFFF"/>
                </a:solidFill>
                <a:latin typeface="Poppins"/>
                <a:ea typeface="Poppins"/>
                <a:cs typeface="Poppins"/>
                <a:sym typeface="Poppins"/>
              </a:rPr>
              <a:t>MikroTik is an affordable and flexible networking platform powered by RouterOS, offering enterprise-level features such as routing, firewalling, NAT, VPN, bandwidth control, and hotspot services. It is widely used across homes, schools, businesses, and ISP networks, with configuration options suitable for both beginners and professionals. As a UTM solution, MikroTik integrates security and traffic management features into a single device, enabling it to function as both a router and a security gateway that protects, controls, and optimizes network performance in physical and virtual environments.</a:t>
            </a:r>
          </a:p>
        </p:txBody>
      </p:sp>
      <p:sp>
        <p:nvSpPr>
          <p:cNvPr id="8" name="TextBox 8"/>
          <p:cNvSpPr txBox="1"/>
          <p:nvPr/>
        </p:nvSpPr>
        <p:spPr>
          <a:xfrm>
            <a:off x="9410227" y="7386930"/>
            <a:ext cx="6641891" cy="2041379"/>
          </a:xfrm>
          <a:prstGeom prst="rect">
            <a:avLst/>
          </a:prstGeom>
        </p:spPr>
        <p:txBody>
          <a:bodyPr lIns="0" tIns="0" rIns="0" bIns="0" rtlCol="0" anchor="t">
            <a:spAutoFit/>
          </a:bodyPr>
          <a:lstStyle/>
          <a:p>
            <a:pPr algn="just">
              <a:lnSpc>
                <a:spcPts val="3227"/>
              </a:lnSpc>
            </a:pPr>
            <a:r>
              <a:rPr lang="en-US" sz="2305" b="1">
                <a:solidFill>
                  <a:srgbClr val="0F0E0E"/>
                </a:solidFill>
                <a:latin typeface="Poppins Bold"/>
                <a:ea typeface="Poppins Bold"/>
                <a:cs typeface="Poppins Bold"/>
                <a:sym typeface="Poppins Bold"/>
              </a:rPr>
              <a:t>MikroTik UTM provides essential network security by integrating firewalling, traffic control, VPN, content filtering, and access management into a single RouterOS-based device.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133005"/>
          </a:xfrm>
          <a:custGeom>
            <a:avLst/>
            <a:gdLst/>
            <a:ahLst/>
            <a:cxnLst/>
            <a:rect l="l" t="t" r="r" b="b"/>
            <a:pathLst>
              <a:path w="18288000" h="10133005">
                <a:moveTo>
                  <a:pt x="0" y="0"/>
                </a:moveTo>
                <a:lnTo>
                  <a:pt x="18288000" y="0"/>
                </a:lnTo>
                <a:lnTo>
                  <a:pt x="18288000" y="10133005"/>
                </a:lnTo>
                <a:lnTo>
                  <a:pt x="0" y="10133005"/>
                </a:lnTo>
                <a:lnTo>
                  <a:pt x="0" y="0"/>
                </a:lnTo>
                <a:close/>
              </a:path>
            </a:pathLst>
          </a:custGeom>
          <a:blipFill>
            <a:blip r:embed="rId2">
              <a:alphaModFix amt="57000"/>
            </a:blip>
            <a:stretch>
              <a:fillRect b="-1519"/>
            </a:stretch>
          </a:blipFill>
        </p:spPr>
        <p:txBody>
          <a:bodyPr/>
          <a:lstStyle/>
          <a:p>
            <a:endParaRPr lang="en-US"/>
          </a:p>
        </p:txBody>
      </p:sp>
      <p:sp>
        <p:nvSpPr>
          <p:cNvPr id="3" name="TextBox 3"/>
          <p:cNvSpPr txBox="1"/>
          <p:nvPr/>
        </p:nvSpPr>
        <p:spPr>
          <a:xfrm>
            <a:off x="1028700" y="6702207"/>
            <a:ext cx="4716106" cy="1324747"/>
          </a:xfrm>
          <a:prstGeom prst="rect">
            <a:avLst/>
          </a:prstGeom>
        </p:spPr>
        <p:txBody>
          <a:bodyPr lIns="0" tIns="0" rIns="0" bIns="0" rtlCol="0" anchor="t">
            <a:spAutoFit/>
          </a:bodyPr>
          <a:lstStyle/>
          <a:p>
            <a:pPr algn="l">
              <a:lnSpc>
                <a:spcPts val="10304"/>
              </a:lnSpc>
            </a:pPr>
            <a:r>
              <a:rPr lang="en-US" sz="7360" b="1">
                <a:solidFill>
                  <a:srgbClr val="FFFFFF"/>
                </a:solidFill>
                <a:latin typeface="Poppins Bold"/>
                <a:ea typeface="Poppins Bold"/>
                <a:cs typeface="Poppins Bold"/>
                <a:sym typeface="Poppins Bold"/>
              </a:rPr>
              <a:t>FEATURES</a:t>
            </a:r>
          </a:p>
        </p:txBody>
      </p:sp>
      <p:sp>
        <p:nvSpPr>
          <p:cNvPr id="4" name="TextBox 4"/>
          <p:cNvSpPr txBox="1"/>
          <p:nvPr/>
        </p:nvSpPr>
        <p:spPr>
          <a:xfrm>
            <a:off x="1028700" y="8086577"/>
            <a:ext cx="11037754" cy="424815"/>
          </a:xfrm>
          <a:prstGeom prst="rect">
            <a:avLst/>
          </a:prstGeom>
        </p:spPr>
        <p:txBody>
          <a:bodyPr lIns="0" tIns="0" rIns="0" bIns="0" rtlCol="0" anchor="t">
            <a:spAutoFit/>
          </a:bodyPr>
          <a:lstStyle/>
          <a:p>
            <a:pPr algn="l">
              <a:lnSpc>
                <a:spcPts val="3359"/>
              </a:lnSpc>
            </a:pPr>
            <a:r>
              <a:rPr lang="en-US" sz="2400">
                <a:solidFill>
                  <a:srgbClr val="FFFFFF"/>
                </a:solidFill>
                <a:latin typeface="Poppins"/>
                <a:ea typeface="Poppins"/>
                <a:cs typeface="Poppins"/>
                <a:sym typeface="Poppins"/>
              </a:rPr>
              <a:t>OF MIKROTIK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4481393" cy="1229611"/>
          </a:xfrm>
          <a:prstGeom prst="rect">
            <a:avLst/>
          </a:prstGeom>
        </p:spPr>
        <p:txBody>
          <a:bodyPr lIns="0" tIns="0" rIns="0" bIns="0" rtlCol="0" anchor="t">
            <a:spAutoFit/>
          </a:bodyPr>
          <a:lstStyle/>
          <a:p>
            <a:pPr marL="1589132" lvl="1" indent="-794566" algn="l">
              <a:lnSpc>
                <a:spcPts val="9200"/>
              </a:lnSpc>
              <a:buAutoNum type="arabicPeriod"/>
            </a:pPr>
            <a:r>
              <a:rPr lang="en-US" sz="7360" b="1">
                <a:solidFill>
                  <a:srgbClr val="FFFFFF"/>
                </a:solidFill>
                <a:latin typeface="Poppins Bold"/>
                <a:ea typeface="Poppins Bold"/>
                <a:cs typeface="Poppins Bold"/>
                <a:sym typeface="Poppins Bold"/>
              </a:rPr>
              <a:t>DHCP</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7250246" y="3793369"/>
            <a:ext cx="8693261" cy="2388968"/>
          </a:xfrm>
          <a:prstGeom prst="rect">
            <a:avLst/>
          </a:prstGeom>
        </p:spPr>
        <p:txBody>
          <a:bodyPr lIns="0" tIns="0" rIns="0" bIns="0" rtlCol="0" anchor="t">
            <a:spAutoFit/>
          </a:bodyPr>
          <a:lstStyle/>
          <a:p>
            <a:pPr marL="582099" lvl="1" indent="-291050" algn="just">
              <a:lnSpc>
                <a:spcPts val="3774"/>
              </a:lnSpc>
              <a:buFont typeface="Arial"/>
              <a:buChar char="•"/>
            </a:pPr>
            <a:r>
              <a:rPr lang="en-US" sz="2696">
                <a:solidFill>
                  <a:srgbClr val="FFFFFF"/>
                </a:solidFill>
                <a:latin typeface="Poppins"/>
                <a:ea typeface="Poppins"/>
                <a:cs typeface="Poppins"/>
                <a:sym typeface="Poppins"/>
              </a:rPr>
              <a:t>Automatically assigns IP addresses to devices</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Reduces manual network configuration</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Prevents IP address conflicts</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Makes network management easier</a:t>
            </a:r>
          </a:p>
          <a:p>
            <a:pPr algn="just">
              <a:lnSpc>
                <a:spcPts val="3774"/>
              </a:lnSpc>
            </a:pPr>
            <a:endParaRPr lang="en-US" sz="2696">
              <a:solidFill>
                <a:srgbClr val="FFFFFF"/>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6176095" y="1368988"/>
            <a:ext cx="5935810" cy="6356958"/>
          </a:xfrm>
          <a:custGeom>
            <a:avLst/>
            <a:gdLst/>
            <a:ahLst/>
            <a:cxnLst/>
            <a:rect l="l" t="t" r="r" b="b"/>
            <a:pathLst>
              <a:path w="5935810" h="6356958">
                <a:moveTo>
                  <a:pt x="0" y="0"/>
                </a:moveTo>
                <a:lnTo>
                  <a:pt x="5935810" y="0"/>
                </a:lnTo>
                <a:lnTo>
                  <a:pt x="5935810" y="6356958"/>
                </a:lnTo>
                <a:lnTo>
                  <a:pt x="0" y="6356958"/>
                </a:lnTo>
                <a:lnTo>
                  <a:pt x="0" y="0"/>
                </a:lnTo>
                <a:close/>
              </a:path>
            </a:pathLst>
          </a:custGeom>
          <a:blipFill>
            <a:blip r:embed="rId2"/>
            <a:stretch>
              <a:fillRect/>
            </a:stretch>
          </a:blipFill>
        </p:spPr>
        <p:txBody>
          <a:bodyPr/>
          <a:lstStyle/>
          <a:p>
            <a:endParaRPr lang="en-US"/>
          </a:p>
        </p:txBody>
      </p:sp>
      <p:sp>
        <p:nvSpPr>
          <p:cNvPr id="9" name="Freeform 9"/>
          <p:cNvSpPr/>
          <p:nvPr/>
        </p:nvSpPr>
        <p:spPr>
          <a:xfrm>
            <a:off x="12205518" y="1368988"/>
            <a:ext cx="5053782" cy="6356958"/>
          </a:xfrm>
          <a:custGeom>
            <a:avLst/>
            <a:gdLst/>
            <a:ahLst/>
            <a:cxnLst/>
            <a:rect l="l" t="t" r="r" b="b"/>
            <a:pathLst>
              <a:path w="5053782" h="6356958">
                <a:moveTo>
                  <a:pt x="0" y="0"/>
                </a:moveTo>
                <a:lnTo>
                  <a:pt x="5053782" y="0"/>
                </a:lnTo>
                <a:lnTo>
                  <a:pt x="5053782" y="6356958"/>
                </a:lnTo>
                <a:lnTo>
                  <a:pt x="0" y="635695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5668946" cy="2232758"/>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DHCP Server</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DHCP Setup</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Select the LAN interface (ether2)</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gateway, address pool, and DNS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Finish the setup</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0372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6386669" y="1510800"/>
            <a:ext cx="2757331" cy="6356958"/>
          </a:xfrm>
          <a:custGeom>
            <a:avLst/>
            <a:gdLst/>
            <a:ahLst/>
            <a:cxnLst/>
            <a:rect l="l" t="t" r="r" b="b"/>
            <a:pathLst>
              <a:path w="2757331" h="6356958">
                <a:moveTo>
                  <a:pt x="0" y="0"/>
                </a:moveTo>
                <a:lnTo>
                  <a:pt x="2757331" y="0"/>
                </a:lnTo>
                <a:lnTo>
                  <a:pt x="2757331" y="6356958"/>
                </a:lnTo>
                <a:lnTo>
                  <a:pt x="0" y="6356958"/>
                </a:lnTo>
                <a:lnTo>
                  <a:pt x="0" y="0"/>
                </a:lnTo>
                <a:close/>
              </a:path>
            </a:pathLst>
          </a:custGeom>
          <a:blipFill>
            <a:blip r:embed="rId2"/>
            <a:stretch>
              <a:fillRect/>
            </a:stretch>
          </a:blipFill>
        </p:spPr>
        <p:txBody>
          <a:bodyPr/>
          <a:lstStyle/>
          <a:p>
            <a:endParaRPr lang="en-US"/>
          </a:p>
        </p:txBody>
      </p:sp>
      <p:sp>
        <p:nvSpPr>
          <p:cNvPr id="9" name="Freeform 9"/>
          <p:cNvSpPr/>
          <p:nvPr/>
        </p:nvSpPr>
        <p:spPr>
          <a:xfrm>
            <a:off x="9378213" y="1714513"/>
            <a:ext cx="3368040" cy="5949531"/>
          </a:xfrm>
          <a:custGeom>
            <a:avLst/>
            <a:gdLst/>
            <a:ahLst/>
            <a:cxnLst/>
            <a:rect l="l" t="t" r="r" b="b"/>
            <a:pathLst>
              <a:path w="3368040" h="5949531">
                <a:moveTo>
                  <a:pt x="0" y="0"/>
                </a:moveTo>
                <a:lnTo>
                  <a:pt x="3368040" y="0"/>
                </a:lnTo>
                <a:lnTo>
                  <a:pt x="3368040" y="5949531"/>
                </a:lnTo>
                <a:lnTo>
                  <a:pt x="0" y="5949531"/>
                </a:lnTo>
                <a:lnTo>
                  <a:pt x="0" y="0"/>
                </a:lnTo>
                <a:close/>
              </a:path>
            </a:pathLst>
          </a:custGeom>
          <a:blipFill>
            <a:blip r:embed="rId3"/>
            <a:stretch>
              <a:fillRect/>
            </a:stretch>
          </a:blipFill>
        </p:spPr>
        <p:txBody>
          <a:bodyPr/>
          <a:lstStyle/>
          <a:p>
            <a:endParaRPr lang="en-US"/>
          </a:p>
        </p:txBody>
      </p:sp>
      <p:sp>
        <p:nvSpPr>
          <p:cNvPr id="10" name="Freeform 10"/>
          <p:cNvSpPr/>
          <p:nvPr/>
        </p:nvSpPr>
        <p:spPr>
          <a:xfrm>
            <a:off x="12984378" y="1995267"/>
            <a:ext cx="4841940" cy="5388024"/>
          </a:xfrm>
          <a:custGeom>
            <a:avLst/>
            <a:gdLst/>
            <a:ahLst/>
            <a:cxnLst/>
            <a:rect l="l" t="t" r="r" b="b"/>
            <a:pathLst>
              <a:path w="4841940" h="5388024">
                <a:moveTo>
                  <a:pt x="0" y="0"/>
                </a:moveTo>
                <a:lnTo>
                  <a:pt x="4841940" y="0"/>
                </a:lnTo>
                <a:lnTo>
                  <a:pt x="4841940" y="5388024"/>
                </a:lnTo>
                <a:lnTo>
                  <a:pt x="0" y="5388024"/>
                </a:lnTo>
                <a:lnTo>
                  <a:pt x="0" y="0"/>
                </a:lnTo>
                <a:close/>
              </a:path>
            </a:pathLst>
          </a:custGeom>
          <a:blipFill>
            <a:blip r:embed="rId4"/>
            <a:stretch>
              <a:fillRect/>
            </a:stretch>
          </a:blipFill>
        </p:spPr>
        <p:txBody>
          <a:bodyPr/>
          <a:lstStyle/>
          <a:p>
            <a:endParaRPr lang="en-US"/>
          </a:p>
        </p:txBody>
      </p:sp>
      <p:sp>
        <p:nvSpPr>
          <p:cNvPr id="11" name="TextBox 11"/>
          <p:cNvSpPr txBox="1"/>
          <p:nvPr/>
        </p:nvSpPr>
        <p:spPr>
          <a:xfrm>
            <a:off x="844755" y="3260539"/>
            <a:ext cx="5668946" cy="2232758"/>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DHCP Server</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DHCP Setup</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Select the LAN interface (ether2)</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gateway, address pool, and DNS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Finish the setup</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2" name="TextBox 12"/>
          <p:cNvSpPr txBox="1"/>
          <p:nvPr/>
        </p:nvSpPr>
        <p:spPr>
          <a:xfrm>
            <a:off x="1391788" y="1852214"/>
            <a:ext cx="20372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10009054" cy="2328971"/>
          </a:xfrm>
          <a:prstGeom prst="rect">
            <a:avLst/>
          </a:prstGeom>
        </p:spPr>
        <p:txBody>
          <a:bodyPr lIns="0" tIns="0" rIns="0" bIns="0" rtlCol="0" anchor="t">
            <a:spAutoFit/>
          </a:bodyPr>
          <a:lstStyle/>
          <a:p>
            <a:pPr marL="794566" lvl="1" algn="l">
              <a:lnSpc>
                <a:spcPts val="9200"/>
              </a:lnSpc>
            </a:pPr>
            <a:r>
              <a:rPr lang="en-US" sz="7360" b="1" dirty="0">
                <a:solidFill>
                  <a:srgbClr val="FFFFFF"/>
                </a:solidFill>
                <a:latin typeface="Poppins Bold"/>
                <a:ea typeface="Poppins Bold"/>
                <a:cs typeface="Poppins Bold"/>
                <a:sym typeface="Poppins Bold"/>
              </a:rPr>
              <a:t>2. NTP (Network Time Protocol)</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7" name="Rectangle 6">
            <a:extLst>
              <a:ext uri="{FF2B5EF4-FFF2-40B4-BE49-F238E27FC236}">
                <a16:creationId xmlns:a16="http://schemas.microsoft.com/office/drawing/2014/main" id="{6843A9E6-AA9E-1DE2-CFBB-71EE265F2DC2}"/>
              </a:ext>
            </a:extLst>
          </p:cNvPr>
          <p:cNvSpPr>
            <a:spLocks noChangeArrowheads="1"/>
          </p:cNvSpPr>
          <p:nvPr/>
        </p:nvSpPr>
        <p:spPr bwMode="auto">
          <a:xfrm>
            <a:off x="7586128" y="3927735"/>
            <a:ext cx="868699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bg1"/>
                </a:solidFill>
                <a:effectLst/>
                <a:latin typeface="Poppins" panose="00000500000000000000" pitchFamily="2" charset="0"/>
                <a:cs typeface="Poppins" panose="00000500000000000000" pitchFamily="2" charset="0"/>
              </a:rPr>
              <a:t>Synchronizes device clocks across the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bg1"/>
                </a:solidFill>
                <a:effectLst/>
                <a:latin typeface="Poppins" panose="00000500000000000000" pitchFamily="2" charset="0"/>
                <a:cs typeface="Poppins" panose="00000500000000000000" pitchFamily="2" charset="0"/>
              </a:rPr>
              <a:t>Ensures accurate logs and scheduled tasks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bg1"/>
                </a:solidFill>
                <a:effectLst/>
                <a:latin typeface="Poppins" panose="00000500000000000000" pitchFamily="2" charset="0"/>
                <a:cs typeface="Poppins" panose="00000500000000000000" pitchFamily="2" charset="0"/>
              </a:rPr>
              <a:t>Functions as a local time server for LAN clients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i="0" u="none" strike="noStrike" cap="none" normalizeH="0" baseline="0" dirty="0">
                <a:ln>
                  <a:noFill/>
                </a:ln>
                <a:solidFill>
                  <a:schemeClr val="bg1"/>
                </a:solidFill>
                <a:effectLst/>
                <a:latin typeface="Poppins" panose="00000500000000000000" pitchFamily="2" charset="0"/>
                <a:cs typeface="Poppins" panose="00000500000000000000" pitchFamily="2" charset="0"/>
              </a:rPr>
              <a:t>Uses router's internal clock for reliability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391788" y="1852214"/>
            <a:ext cx="2295380"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
        <p:nvSpPr>
          <p:cNvPr id="13" name="Rectangle 1">
            <a:extLst>
              <a:ext uri="{FF2B5EF4-FFF2-40B4-BE49-F238E27FC236}">
                <a16:creationId xmlns:a16="http://schemas.microsoft.com/office/drawing/2014/main" id="{9C086330-2099-CAE6-C691-493FE9B29C19}"/>
              </a:ext>
            </a:extLst>
          </p:cNvPr>
          <p:cNvSpPr>
            <a:spLocks noChangeArrowheads="1"/>
          </p:cNvSpPr>
          <p:nvPr/>
        </p:nvSpPr>
        <p:spPr bwMode="auto">
          <a:xfrm>
            <a:off x="934324" y="3188716"/>
            <a:ext cx="375442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Go to System → NTP Server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Check "Enabled" and "Use Local Clock"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Set Local Clock Stratum to 5 and click Apply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On client PC, go to Internet Time Settings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bg1"/>
                </a:solidFill>
                <a:effectLst/>
                <a:latin typeface="Poppins" panose="00000500000000000000" pitchFamily="2" charset="0"/>
                <a:cs typeface="Poppins" panose="00000500000000000000" pitchFamily="2" charset="0"/>
              </a:rPr>
              <a:t>Enter Server IP (10.10.10.1) and click Update now</a:t>
            </a:r>
          </a:p>
        </p:txBody>
      </p:sp>
      <p:pic>
        <p:nvPicPr>
          <p:cNvPr id="14" name="Picture 13">
            <a:extLst>
              <a:ext uri="{FF2B5EF4-FFF2-40B4-BE49-F238E27FC236}">
                <a16:creationId xmlns:a16="http://schemas.microsoft.com/office/drawing/2014/main" id="{1E72CC95-AAA8-9ED8-C7EE-31603325FC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4459" y="1887159"/>
            <a:ext cx="5717540" cy="4691380"/>
          </a:xfrm>
          <a:prstGeom prst="rect">
            <a:avLst/>
          </a:prstGeom>
        </p:spPr>
      </p:pic>
      <p:pic>
        <p:nvPicPr>
          <p:cNvPr id="15" name="Picture 14">
            <a:extLst>
              <a:ext uri="{FF2B5EF4-FFF2-40B4-BE49-F238E27FC236}">
                <a16:creationId xmlns:a16="http://schemas.microsoft.com/office/drawing/2014/main" id="{0A322B1B-84C7-BD83-D846-157F3C1E9C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58600" y="747454"/>
            <a:ext cx="4266565" cy="3464560"/>
          </a:xfrm>
          <a:prstGeom prst="rect">
            <a:avLst/>
          </a:prstGeom>
        </p:spPr>
      </p:pic>
      <p:pic>
        <p:nvPicPr>
          <p:cNvPr id="16" name="Picture 15" descr="A screenshot of a computer screen&#10;&#10;AI-generated content may be incorrect.">
            <a:extLst>
              <a:ext uri="{FF2B5EF4-FFF2-40B4-BE49-F238E27FC236}">
                <a16:creationId xmlns:a16="http://schemas.microsoft.com/office/drawing/2014/main" id="{89B20436-A672-E22D-ABA9-7B6806390FFD}"/>
              </a:ext>
            </a:extLst>
          </p:cNvPr>
          <p:cNvPicPr>
            <a:picLocks noChangeAspect="1"/>
          </p:cNvPicPr>
          <p:nvPr/>
        </p:nvPicPr>
        <p:blipFill>
          <a:blip r:embed="rId4"/>
          <a:stretch>
            <a:fillRect/>
          </a:stretch>
        </p:blipFill>
        <p:spPr>
          <a:xfrm>
            <a:off x="11417705" y="5139813"/>
            <a:ext cx="4752975" cy="3752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10009054" cy="2391661"/>
          </a:xfrm>
          <a:prstGeom prst="rect">
            <a:avLst/>
          </a:prstGeom>
        </p:spPr>
        <p:txBody>
          <a:bodyPr lIns="0" tIns="0" rIns="0" bIns="0" rtlCol="0" anchor="t">
            <a:spAutoFit/>
          </a:bodyPr>
          <a:lstStyle/>
          <a:p>
            <a:pPr marL="794566" lvl="1" algn="l">
              <a:lnSpc>
                <a:spcPts val="9200"/>
              </a:lnSpc>
            </a:pPr>
            <a:r>
              <a:rPr lang="en-US" sz="7360" b="1" dirty="0">
                <a:solidFill>
                  <a:srgbClr val="FFFFFF"/>
                </a:solidFill>
                <a:latin typeface="Poppins Bold"/>
                <a:ea typeface="Poppins Bold"/>
                <a:cs typeface="Poppins Bold"/>
                <a:sym typeface="Poppins Bold"/>
              </a:rPr>
              <a:t>3.Specific Device Ping Banned</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7250246" y="3793369"/>
            <a:ext cx="8693261" cy="2388968"/>
          </a:xfrm>
          <a:prstGeom prst="rect">
            <a:avLst/>
          </a:prstGeom>
        </p:spPr>
        <p:txBody>
          <a:bodyPr lIns="0" tIns="0" rIns="0" bIns="0" rtlCol="0" anchor="t">
            <a:spAutoFit/>
          </a:bodyPr>
          <a:lstStyle/>
          <a:p>
            <a:pPr marL="582099" lvl="1" indent="-291050" algn="just">
              <a:lnSpc>
                <a:spcPts val="3774"/>
              </a:lnSpc>
              <a:buFont typeface="Arial"/>
              <a:buChar char="•"/>
            </a:pPr>
            <a:r>
              <a:rPr lang="en-US" sz="2696">
                <a:solidFill>
                  <a:srgbClr val="FFFFFF"/>
                </a:solidFill>
                <a:latin typeface="Poppins"/>
                <a:ea typeface="Poppins"/>
                <a:cs typeface="Poppins"/>
                <a:sym typeface="Poppins"/>
              </a:rPr>
              <a:t>Blocks ICMP (ping) traffic</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Prevents network scanning</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Increases device-level security</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Allows selective device control</a:t>
            </a:r>
          </a:p>
          <a:p>
            <a:pPr algn="just">
              <a:lnSpc>
                <a:spcPts val="3774"/>
              </a:lnSpc>
            </a:pPr>
            <a:endParaRPr lang="en-US" sz="2696">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8439536" y="222841"/>
            <a:ext cx="5816643" cy="5549825"/>
          </a:xfrm>
          <a:custGeom>
            <a:avLst/>
            <a:gdLst/>
            <a:ahLst/>
            <a:cxnLst/>
            <a:rect l="l" t="t" r="r" b="b"/>
            <a:pathLst>
              <a:path w="5816643" h="5549825">
                <a:moveTo>
                  <a:pt x="0" y="0"/>
                </a:moveTo>
                <a:lnTo>
                  <a:pt x="5816643" y="0"/>
                </a:lnTo>
                <a:lnTo>
                  <a:pt x="5816643" y="5549825"/>
                </a:lnTo>
                <a:lnTo>
                  <a:pt x="0" y="5549825"/>
                </a:lnTo>
                <a:lnTo>
                  <a:pt x="0" y="0"/>
                </a:lnTo>
                <a:close/>
              </a:path>
            </a:pathLst>
          </a:custGeom>
          <a:blipFill>
            <a:blip r:embed="rId2"/>
            <a:stretch>
              <a:fillRect/>
            </a:stretch>
          </a:blipFill>
        </p:spPr>
        <p:txBody>
          <a:bodyPr/>
          <a:lstStyle/>
          <a:p>
            <a:endParaRPr lang="en-US"/>
          </a:p>
        </p:txBody>
      </p:sp>
      <p:sp>
        <p:nvSpPr>
          <p:cNvPr id="9" name="Freeform 9"/>
          <p:cNvSpPr/>
          <p:nvPr/>
        </p:nvSpPr>
        <p:spPr>
          <a:xfrm>
            <a:off x="7412405" y="5598312"/>
            <a:ext cx="8948191" cy="5668813"/>
          </a:xfrm>
          <a:custGeom>
            <a:avLst/>
            <a:gdLst/>
            <a:ahLst/>
            <a:cxnLst/>
            <a:rect l="l" t="t" r="r" b="b"/>
            <a:pathLst>
              <a:path w="8948191" h="5668813">
                <a:moveTo>
                  <a:pt x="0" y="0"/>
                </a:moveTo>
                <a:lnTo>
                  <a:pt x="8948191" y="0"/>
                </a:lnTo>
                <a:lnTo>
                  <a:pt x="8948191" y="5668813"/>
                </a:lnTo>
                <a:lnTo>
                  <a:pt x="0" y="5668813"/>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5668946" cy="2975708"/>
          </a:xfrm>
          <a:prstGeom prst="rect">
            <a:avLst/>
          </a:prstGeom>
        </p:spPr>
        <p:txBody>
          <a:bodyPr lIns="0" tIns="0" rIns="0" bIns="0" rtlCol="0" anchor="t">
            <a:spAutoFit/>
          </a:bodyPr>
          <a:lstStyle/>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Go to IP → Firewall → Filter Rules</a:t>
            </a:r>
          </a:p>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Set Chain: forward</a:t>
            </a:r>
          </a:p>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Enter source IP address of device</a:t>
            </a:r>
          </a:p>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Set Protocol: </a:t>
            </a:r>
            <a:r>
              <a:rPr lang="en-US" sz="2096" b="1" dirty="0" err="1">
                <a:solidFill>
                  <a:srgbClr val="FFFFFF"/>
                </a:solidFill>
                <a:latin typeface="Poppins Bold"/>
                <a:ea typeface="Poppins Bold"/>
                <a:cs typeface="Poppins Bold"/>
                <a:sym typeface="Poppins Bold"/>
              </a:rPr>
              <a:t>icmp</a:t>
            </a:r>
            <a:endParaRPr lang="en-US" sz="2096" b="1" dirty="0">
              <a:solidFill>
                <a:srgbClr val="FFFFFF"/>
              </a:solidFill>
              <a:latin typeface="Poppins Bold"/>
              <a:ea typeface="Poppins Bold"/>
              <a:cs typeface="Poppins Bold"/>
              <a:sym typeface="Poppins Bold"/>
            </a:endParaRPr>
          </a:p>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Set Action: drop</a:t>
            </a:r>
          </a:p>
          <a:p>
            <a:pPr marL="452561" lvl="1" indent="-226280" algn="just">
              <a:lnSpc>
                <a:spcPts val="2934"/>
              </a:lnSpc>
              <a:buFont typeface="Arial"/>
              <a:buChar char="•"/>
            </a:pPr>
            <a:r>
              <a:rPr lang="en-US" sz="2096" b="1" dirty="0">
                <a:solidFill>
                  <a:srgbClr val="FFFFFF"/>
                </a:solidFill>
                <a:latin typeface="Poppins Bold"/>
                <a:ea typeface="Poppins Bold"/>
                <a:cs typeface="Poppins Bold"/>
                <a:sym typeface="Poppins Bold"/>
              </a:rPr>
              <a:t>Save</a:t>
            </a:r>
          </a:p>
          <a:p>
            <a:pPr algn="just">
              <a:lnSpc>
                <a:spcPts val="2934"/>
              </a:lnSpc>
            </a:pPr>
            <a:endParaRPr lang="en-US" sz="2096" b="1" dirty="0">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189612" cy="874214"/>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5910028" y="1215346"/>
            <a:ext cx="5010975" cy="6355189"/>
          </a:xfrm>
          <a:custGeom>
            <a:avLst/>
            <a:gdLst/>
            <a:ahLst/>
            <a:cxnLst/>
            <a:rect l="l" t="t" r="r" b="b"/>
            <a:pathLst>
              <a:path w="5010975" h="6355189">
                <a:moveTo>
                  <a:pt x="0" y="0"/>
                </a:moveTo>
                <a:lnTo>
                  <a:pt x="5010975" y="0"/>
                </a:lnTo>
                <a:lnTo>
                  <a:pt x="5010975" y="6355188"/>
                </a:lnTo>
                <a:lnTo>
                  <a:pt x="0" y="6355188"/>
                </a:lnTo>
                <a:lnTo>
                  <a:pt x="0" y="0"/>
                </a:lnTo>
                <a:close/>
              </a:path>
            </a:pathLst>
          </a:custGeom>
          <a:blipFill>
            <a:blip r:embed="rId2"/>
            <a:stretch>
              <a:fillRect/>
            </a:stretch>
          </a:blipFill>
        </p:spPr>
        <p:txBody>
          <a:bodyPr/>
          <a:lstStyle/>
          <a:p>
            <a:endParaRPr lang="en-US"/>
          </a:p>
        </p:txBody>
      </p:sp>
      <p:sp>
        <p:nvSpPr>
          <p:cNvPr id="9" name="Freeform 9"/>
          <p:cNvSpPr/>
          <p:nvPr/>
        </p:nvSpPr>
        <p:spPr>
          <a:xfrm>
            <a:off x="11223938" y="1215346"/>
            <a:ext cx="5376650" cy="6349871"/>
          </a:xfrm>
          <a:custGeom>
            <a:avLst/>
            <a:gdLst/>
            <a:ahLst/>
            <a:cxnLst/>
            <a:rect l="l" t="t" r="r" b="b"/>
            <a:pathLst>
              <a:path w="5376650" h="6349871">
                <a:moveTo>
                  <a:pt x="0" y="0"/>
                </a:moveTo>
                <a:lnTo>
                  <a:pt x="5376650" y="0"/>
                </a:lnTo>
                <a:lnTo>
                  <a:pt x="5376650" y="6349871"/>
                </a:lnTo>
                <a:lnTo>
                  <a:pt x="0" y="6349871"/>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5668946" cy="2975708"/>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Firewall → Filter Rules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Chain: forward</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source IP address of device</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Protocol: icmp</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Action: drop</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Save</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265812" cy="887095"/>
          </a:xfrm>
          <a:prstGeom prst="rect">
            <a:avLst/>
          </a:prstGeom>
        </p:spPr>
        <p:txBody>
          <a:bodyPr wrap="square"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Steps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5265919" y="1197231"/>
            <a:ext cx="4632633" cy="6356958"/>
          </a:xfrm>
          <a:custGeom>
            <a:avLst/>
            <a:gdLst/>
            <a:ahLst/>
            <a:cxnLst/>
            <a:rect l="l" t="t" r="r" b="b"/>
            <a:pathLst>
              <a:path w="4632633" h="6356958">
                <a:moveTo>
                  <a:pt x="0" y="0"/>
                </a:moveTo>
                <a:lnTo>
                  <a:pt x="4632634" y="0"/>
                </a:lnTo>
                <a:lnTo>
                  <a:pt x="4632634" y="6356959"/>
                </a:lnTo>
                <a:lnTo>
                  <a:pt x="0" y="6356959"/>
                </a:lnTo>
                <a:lnTo>
                  <a:pt x="0" y="0"/>
                </a:lnTo>
                <a:close/>
              </a:path>
            </a:pathLst>
          </a:custGeom>
          <a:blipFill>
            <a:blip r:embed="rId2"/>
            <a:stretch>
              <a:fillRect/>
            </a:stretch>
          </a:blipFill>
        </p:spPr>
        <p:txBody>
          <a:bodyPr/>
          <a:lstStyle/>
          <a:p>
            <a:endParaRPr lang="en-US"/>
          </a:p>
        </p:txBody>
      </p:sp>
      <p:sp>
        <p:nvSpPr>
          <p:cNvPr id="9" name="Freeform 9"/>
          <p:cNvSpPr/>
          <p:nvPr/>
        </p:nvSpPr>
        <p:spPr>
          <a:xfrm>
            <a:off x="10282587" y="1824368"/>
            <a:ext cx="6438869" cy="5729821"/>
          </a:xfrm>
          <a:custGeom>
            <a:avLst/>
            <a:gdLst/>
            <a:ahLst/>
            <a:cxnLst/>
            <a:rect l="l" t="t" r="r" b="b"/>
            <a:pathLst>
              <a:path w="6438869" h="5729821">
                <a:moveTo>
                  <a:pt x="0" y="0"/>
                </a:moveTo>
                <a:lnTo>
                  <a:pt x="6438869" y="0"/>
                </a:lnTo>
                <a:lnTo>
                  <a:pt x="6438869" y="5729822"/>
                </a:lnTo>
                <a:lnTo>
                  <a:pt x="0" y="5729822"/>
                </a:lnTo>
                <a:lnTo>
                  <a:pt x="0" y="0"/>
                </a:lnTo>
                <a:close/>
              </a:path>
            </a:pathLst>
          </a:custGeom>
          <a:blipFill>
            <a:blip r:embed="rId3"/>
            <a:stretch>
              <a:fillRect r="-24329"/>
            </a:stretch>
          </a:blipFill>
        </p:spPr>
        <p:txBody>
          <a:bodyPr/>
          <a:lstStyle/>
          <a:p>
            <a:endParaRPr lang="en-US"/>
          </a:p>
        </p:txBody>
      </p:sp>
      <p:sp>
        <p:nvSpPr>
          <p:cNvPr id="10" name="TextBox 10"/>
          <p:cNvSpPr txBox="1"/>
          <p:nvPr/>
        </p:nvSpPr>
        <p:spPr>
          <a:xfrm>
            <a:off x="844755" y="3260539"/>
            <a:ext cx="4037130" cy="3718658"/>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Firewall → Filter Rules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Chain: forward</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source IP address of device</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Protocol: icmp</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Action: drop</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Save</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1134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10009054" cy="1149161"/>
          </a:xfrm>
          <a:prstGeom prst="rect">
            <a:avLst/>
          </a:prstGeom>
        </p:spPr>
        <p:txBody>
          <a:bodyPr lIns="0" tIns="0" rIns="0" bIns="0" rtlCol="0" anchor="t">
            <a:spAutoFit/>
          </a:bodyPr>
          <a:lstStyle/>
          <a:p>
            <a:pPr marL="794566" lvl="1" algn="l">
              <a:lnSpc>
                <a:spcPts val="9200"/>
              </a:lnSpc>
            </a:pPr>
            <a:r>
              <a:rPr lang="en-US" sz="7360" b="1" dirty="0">
                <a:solidFill>
                  <a:srgbClr val="FFFFFF"/>
                </a:solidFill>
                <a:latin typeface="Poppins Bold"/>
                <a:ea typeface="Poppins Bold"/>
                <a:cs typeface="Poppins Bold"/>
                <a:sym typeface="Poppins Bold"/>
              </a:rPr>
              <a:t>4.IP Reservation</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7250246" y="3793369"/>
            <a:ext cx="8693261" cy="2388968"/>
          </a:xfrm>
          <a:prstGeom prst="rect">
            <a:avLst/>
          </a:prstGeom>
        </p:spPr>
        <p:txBody>
          <a:bodyPr lIns="0" tIns="0" rIns="0" bIns="0" rtlCol="0" anchor="t">
            <a:spAutoFit/>
          </a:bodyPr>
          <a:lstStyle/>
          <a:p>
            <a:pPr marL="582099" lvl="1" indent="-291050" algn="just">
              <a:lnSpc>
                <a:spcPts val="3774"/>
              </a:lnSpc>
              <a:buFont typeface="Arial"/>
              <a:buChar char="•"/>
            </a:pPr>
            <a:r>
              <a:rPr lang="en-US" sz="2696">
                <a:solidFill>
                  <a:srgbClr val="FFFFFF"/>
                </a:solidFill>
                <a:latin typeface="Poppins"/>
                <a:ea typeface="Poppins"/>
                <a:cs typeface="Poppins"/>
                <a:sym typeface="Poppins"/>
              </a:rPr>
              <a:t>Assigns permanent IP addresses to devices</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Uses MAC address binding</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Ensures consistent IP usage</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Useful for servers and important devices</a:t>
            </a:r>
          </a:p>
          <a:p>
            <a:pPr algn="just">
              <a:lnSpc>
                <a:spcPts val="3774"/>
              </a:lnSpc>
            </a:pPr>
            <a:endParaRPr lang="en-US" sz="2696">
              <a:solidFill>
                <a:srgbClr val="FFFFFF"/>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5110339" y="1947464"/>
            <a:ext cx="6304406" cy="6162535"/>
          </a:xfrm>
          <a:custGeom>
            <a:avLst/>
            <a:gdLst/>
            <a:ahLst/>
            <a:cxnLst/>
            <a:rect l="l" t="t" r="r" b="b"/>
            <a:pathLst>
              <a:path w="6304406" h="6162535">
                <a:moveTo>
                  <a:pt x="0" y="0"/>
                </a:moveTo>
                <a:lnTo>
                  <a:pt x="6304406" y="0"/>
                </a:lnTo>
                <a:lnTo>
                  <a:pt x="6304406" y="6162535"/>
                </a:lnTo>
                <a:lnTo>
                  <a:pt x="0" y="6162535"/>
                </a:lnTo>
                <a:lnTo>
                  <a:pt x="0" y="0"/>
                </a:lnTo>
                <a:close/>
              </a:path>
            </a:pathLst>
          </a:custGeom>
          <a:blipFill>
            <a:blip r:embed="rId2"/>
            <a:stretch>
              <a:fillRect/>
            </a:stretch>
          </a:blipFill>
        </p:spPr>
        <p:txBody>
          <a:bodyPr/>
          <a:lstStyle/>
          <a:p>
            <a:endParaRPr lang="en-US"/>
          </a:p>
        </p:txBody>
      </p:sp>
      <p:sp>
        <p:nvSpPr>
          <p:cNvPr id="9" name="Freeform 9"/>
          <p:cNvSpPr/>
          <p:nvPr/>
        </p:nvSpPr>
        <p:spPr>
          <a:xfrm>
            <a:off x="11643345" y="1947464"/>
            <a:ext cx="5824624" cy="6035037"/>
          </a:xfrm>
          <a:custGeom>
            <a:avLst/>
            <a:gdLst/>
            <a:ahLst/>
            <a:cxnLst/>
            <a:rect l="l" t="t" r="r" b="b"/>
            <a:pathLst>
              <a:path w="5824624" h="6035037">
                <a:moveTo>
                  <a:pt x="0" y="0"/>
                </a:moveTo>
                <a:lnTo>
                  <a:pt x="5824624" y="0"/>
                </a:lnTo>
                <a:lnTo>
                  <a:pt x="5824624" y="6035037"/>
                </a:lnTo>
                <a:lnTo>
                  <a:pt x="0" y="6035037"/>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4037130" cy="2604233"/>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DHCP Server → Leases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IP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MAC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Apply and OK</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1134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7283713" y="419486"/>
            <a:ext cx="5901405" cy="6189492"/>
          </a:xfrm>
          <a:custGeom>
            <a:avLst/>
            <a:gdLst/>
            <a:ahLst/>
            <a:cxnLst/>
            <a:rect l="l" t="t" r="r" b="b"/>
            <a:pathLst>
              <a:path w="5901405" h="6189492">
                <a:moveTo>
                  <a:pt x="0" y="0"/>
                </a:moveTo>
                <a:lnTo>
                  <a:pt x="5901406" y="0"/>
                </a:lnTo>
                <a:lnTo>
                  <a:pt x="5901406" y="6189492"/>
                </a:lnTo>
                <a:lnTo>
                  <a:pt x="0" y="6189492"/>
                </a:lnTo>
                <a:lnTo>
                  <a:pt x="0" y="0"/>
                </a:lnTo>
                <a:close/>
              </a:path>
            </a:pathLst>
          </a:custGeom>
          <a:blipFill>
            <a:blip r:embed="rId2"/>
            <a:stretch>
              <a:fillRect/>
            </a:stretch>
          </a:blipFill>
        </p:spPr>
        <p:txBody>
          <a:bodyPr/>
          <a:lstStyle/>
          <a:p>
            <a:endParaRPr lang="en-US"/>
          </a:p>
        </p:txBody>
      </p:sp>
      <p:sp>
        <p:nvSpPr>
          <p:cNvPr id="9" name="Freeform 9"/>
          <p:cNvSpPr/>
          <p:nvPr/>
        </p:nvSpPr>
        <p:spPr>
          <a:xfrm>
            <a:off x="4881885" y="6800276"/>
            <a:ext cx="11301259" cy="2458024"/>
          </a:xfrm>
          <a:custGeom>
            <a:avLst/>
            <a:gdLst/>
            <a:ahLst/>
            <a:cxnLst/>
            <a:rect l="l" t="t" r="r" b="b"/>
            <a:pathLst>
              <a:path w="11301259" h="2458024">
                <a:moveTo>
                  <a:pt x="0" y="0"/>
                </a:moveTo>
                <a:lnTo>
                  <a:pt x="11301259" y="0"/>
                </a:lnTo>
                <a:lnTo>
                  <a:pt x="11301259" y="2458024"/>
                </a:lnTo>
                <a:lnTo>
                  <a:pt x="0" y="2458024"/>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4037130" cy="2604233"/>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DHCP Server → Leases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IP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MAC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Apply and OK</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1896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10009054" cy="1149161"/>
          </a:xfrm>
          <a:prstGeom prst="rect">
            <a:avLst/>
          </a:prstGeom>
        </p:spPr>
        <p:txBody>
          <a:bodyPr lIns="0" tIns="0" rIns="0" bIns="0" rtlCol="0" anchor="t">
            <a:spAutoFit/>
          </a:bodyPr>
          <a:lstStyle/>
          <a:p>
            <a:pPr marL="794566" lvl="1" algn="l">
              <a:lnSpc>
                <a:spcPts val="9200"/>
              </a:lnSpc>
            </a:pPr>
            <a:r>
              <a:rPr lang="en-US" sz="7360" b="1" dirty="0">
                <a:solidFill>
                  <a:srgbClr val="FFFFFF"/>
                </a:solidFill>
                <a:latin typeface="Poppins Bold"/>
                <a:ea typeface="Poppins Bold"/>
                <a:cs typeface="Poppins Bold"/>
                <a:sym typeface="Poppins Bold"/>
              </a:rPr>
              <a:t>5.Limit Bandwidth</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7250246" y="3793369"/>
            <a:ext cx="8693261" cy="2388968"/>
          </a:xfrm>
          <a:prstGeom prst="rect">
            <a:avLst/>
          </a:prstGeom>
        </p:spPr>
        <p:txBody>
          <a:bodyPr lIns="0" tIns="0" rIns="0" bIns="0" rtlCol="0" anchor="t">
            <a:spAutoFit/>
          </a:bodyPr>
          <a:lstStyle/>
          <a:p>
            <a:pPr marL="582099" lvl="1" indent="-291050" algn="just">
              <a:lnSpc>
                <a:spcPts val="3774"/>
              </a:lnSpc>
              <a:buFont typeface="Arial"/>
              <a:buChar char="•"/>
            </a:pPr>
            <a:r>
              <a:rPr lang="en-US" sz="2696">
                <a:solidFill>
                  <a:srgbClr val="FFFFFF"/>
                </a:solidFill>
                <a:latin typeface="Poppins"/>
                <a:ea typeface="Poppins"/>
                <a:cs typeface="Poppins"/>
                <a:sym typeface="Poppins"/>
              </a:rPr>
              <a:t>Controls internet speed per device</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Prevents bandwidth abuse</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Ensures fair network usage</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Improves overall performance</a:t>
            </a:r>
          </a:p>
          <a:p>
            <a:pPr algn="just">
              <a:lnSpc>
                <a:spcPts val="3774"/>
              </a:lnSpc>
            </a:pPr>
            <a:endParaRPr lang="en-US" sz="2696">
              <a:solidFill>
                <a:srgbClr val="FFFFFF"/>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5709817" y="1279658"/>
            <a:ext cx="4322732" cy="6356958"/>
          </a:xfrm>
          <a:custGeom>
            <a:avLst/>
            <a:gdLst/>
            <a:ahLst/>
            <a:cxnLst/>
            <a:rect l="l" t="t" r="r" b="b"/>
            <a:pathLst>
              <a:path w="4322732" h="6356958">
                <a:moveTo>
                  <a:pt x="0" y="0"/>
                </a:moveTo>
                <a:lnTo>
                  <a:pt x="4322732" y="0"/>
                </a:lnTo>
                <a:lnTo>
                  <a:pt x="4322732" y="6356958"/>
                </a:lnTo>
                <a:lnTo>
                  <a:pt x="0" y="6356958"/>
                </a:lnTo>
                <a:lnTo>
                  <a:pt x="0" y="0"/>
                </a:lnTo>
                <a:close/>
              </a:path>
            </a:pathLst>
          </a:custGeom>
          <a:blipFill>
            <a:blip r:embed="rId2"/>
            <a:stretch>
              <a:fillRect/>
            </a:stretch>
          </a:blipFill>
        </p:spPr>
        <p:txBody>
          <a:bodyPr/>
          <a:lstStyle/>
          <a:p>
            <a:endParaRPr lang="en-US"/>
          </a:p>
        </p:txBody>
      </p:sp>
      <p:sp>
        <p:nvSpPr>
          <p:cNvPr id="9" name="Freeform 9"/>
          <p:cNvSpPr/>
          <p:nvPr/>
        </p:nvSpPr>
        <p:spPr>
          <a:xfrm>
            <a:off x="10575474" y="1359570"/>
            <a:ext cx="5188904" cy="6197134"/>
          </a:xfrm>
          <a:custGeom>
            <a:avLst/>
            <a:gdLst/>
            <a:ahLst/>
            <a:cxnLst/>
            <a:rect l="l" t="t" r="r" b="b"/>
            <a:pathLst>
              <a:path w="5188904" h="6197134">
                <a:moveTo>
                  <a:pt x="0" y="0"/>
                </a:moveTo>
                <a:lnTo>
                  <a:pt x="5188904" y="0"/>
                </a:lnTo>
                <a:lnTo>
                  <a:pt x="5188904" y="6197134"/>
                </a:lnTo>
                <a:lnTo>
                  <a:pt x="0" y="6197134"/>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4037130" cy="2975708"/>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Queues → Simple Queues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target IP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maximum upload and download speed</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Save</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18848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4881885" y="1510800"/>
            <a:ext cx="4743880" cy="6356958"/>
          </a:xfrm>
          <a:custGeom>
            <a:avLst/>
            <a:gdLst/>
            <a:ahLst/>
            <a:cxnLst/>
            <a:rect l="l" t="t" r="r" b="b"/>
            <a:pathLst>
              <a:path w="4743880" h="6356958">
                <a:moveTo>
                  <a:pt x="0" y="0"/>
                </a:moveTo>
                <a:lnTo>
                  <a:pt x="4743880" y="0"/>
                </a:lnTo>
                <a:lnTo>
                  <a:pt x="4743880" y="6356958"/>
                </a:lnTo>
                <a:lnTo>
                  <a:pt x="0" y="6356958"/>
                </a:lnTo>
                <a:lnTo>
                  <a:pt x="0" y="0"/>
                </a:lnTo>
                <a:close/>
              </a:path>
            </a:pathLst>
          </a:custGeom>
          <a:blipFill>
            <a:blip r:embed="rId2"/>
            <a:stretch>
              <a:fillRect/>
            </a:stretch>
          </a:blipFill>
        </p:spPr>
        <p:txBody>
          <a:bodyPr/>
          <a:lstStyle/>
          <a:p>
            <a:endParaRPr lang="en-US"/>
          </a:p>
        </p:txBody>
      </p:sp>
      <p:sp>
        <p:nvSpPr>
          <p:cNvPr id="9" name="Freeform 9"/>
          <p:cNvSpPr/>
          <p:nvPr/>
        </p:nvSpPr>
        <p:spPr>
          <a:xfrm>
            <a:off x="9897694" y="2238910"/>
            <a:ext cx="7089676" cy="4900739"/>
          </a:xfrm>
          <a:custGeom>
            <a:avLst/>
            <a:gdLst/>
            <a:ahLst/>
            <a:cxnLst/>
            <a:rect l="l" t="t" r="r" b="b"/>
            <a:pathLst>
              <a:path w="7089676" h="4900739">
                <a:moveTo>
                  <a:pt x="0" y="0"/>
                </a:moveTo>
                <a:lnTo>
                  <a:pt x="7089676" y="0"/>
                </a:lnTo>
                <a:lnTo>
                  <a:pt x="7089676" y="4900738"/>
                </a:lnTo>
                <a:lnTo>
                  <a:pt x="0" y="490073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4037130" cy="2975708"/>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Queues → Simple Queues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target IP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Set maximum upload and download speed</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Save</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1134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10009054" cy="2391661"/>
          </a:xfrm>
          <a:prstGeom prst="rect">
            <a:avLst/>
          </a:prstGeom>
        </p:spPr>
        <p:txBody>
          <a:bodyPr lIns="0" tIns="0" rIns="0" bIns="0" rtlCol="0" anchor="t">
            <a:spAutoFit/>
          </a:bodyPr>
          <a:lstStyle/>
          <a:p>
            <a:pPr marL="794566" lvl="1" algn="l">
              <a:lnSpc>
                <a:spcPts val="9200"/>
              </a:lnSpc>
            </a:pPr>
            <a:r>
              <a:rPr lang="en-US" sz="7360" b="1" dirty="0">
                <a:solidFill>
                  <a:srgbClr val="FFFFFF"/>
                </a:solidFill>
                <a:latin typeface="Poppins Bold"/>
                <a:ea typeface="Poppins Bold"/>
                <a:cs typeface="Poppins Bold"/>
                <a:sym typeface="Poppins Bold"/>
              </a:rPr>
              <a:t>6.DNS Hostname Resolver</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7250246" y="3793369"/>
            <a:ext cx="8693261" cy="2388968"/>
          </a:xfrm>
          <a:prstGeom prst="rect">
            <a:avLst/>
          </a:prstGeom>
        </p:spPr>
        <p:txBody>
          <a:bodyPr lIns="0" tIns="0" rIns="0" bIns="0" rtlCol="0" anchor="t">
            <a:spAutoFit/>
          </a:bodyPr>
          <a:lstStyle/>
          <a:p>
            <a:pPr marL="582099" lvl="1" indent="-291050" algn="just">
              <a:lnSpc>
                <a:spcPts val="3774"/>
              </a:lnSpc>
              <a:buFont typeface="Arial"/>
              <a:buChar char="•"/>
            </a:pPr>
            <a:r>
              <a:rPr lang="en-US" sz="2696">
                <a:solidFill>
                  <a:srgbClr val="FFFFFF"/>
                </a:solidFill>
                <a:latin typeface="Poppins"/>
                <a:ea typeface="Poppins"/>
                <a:cs typeface="Poppins"/>
                <a:sym typeface="Poppins"/>
              </a:rPr>
              <a:t>Converts domain names to IP addresses</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Speeds up browsing</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Allows local hostname resolution</a:t>
            </a:r>
          </a:p>
          <a:p>
            <a:pPr marL="582099" lvl="1" indent="-291050" algn="just">
              <a:lnSpc>
                <a:spcPts val="3774"/>
              </a:lnSpc>
              <a:buFont typeface="Arial"/>
              <a:buChar char="•"/>
            </a:pPr>
            <a:r>
              <a:rPr lang="en-US" sz="2696">
                <a:solidFill>
                  <a:srgbClr val="FFFFFF"/>
                </a:solidFill>
                <a:latin typeface="Poppins"/>
                <a:ea typeface="Poppins"/>
                <a:cs typeface="Poppins"/>
                <a:sym typeface="Poppins"/>
              </a:rPr>
              <a:t>Improves network reliability</a:t>
            </a:r>
          </a:p>
          <a:p>
            <a:pPr algn="just">
              <a:lnSpc>
                <a:spcPts val="3774"/>
              </a:lnSpc>
            </a:pPr>
            <a:endParaRPr lang="en-US" sz="2696">
              <a:solidFill>
                <a:srgbClr val="FFFFFF"/>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5424810" y="1510800"/>
            <a:ext cx="3257941" cy="6356958"/>
          </a:xfrm>
          <a:custGeom>
            <a:avLst/>
            <a:gdLst/>
            <a:ahLst/>
            <a:cxnLst/>
            <a:rect l="l" t="t" r="r" b="b"/>
            <a:pathLst>
              <a:path w="3257941" h="6356958">
                <a:moveTo>
                  <a:pt x="0" y="0"/>
                </a:moveTo>
                <a:lnTo>
                  <a:pt x="3257941" y="0"/>
                </a:lnTo>
                <a:lnTo>
                  <a:pt x="3257941" y="6356958"/>
                </a:lnTo>
                <a:lnTo>
                  <a:pt x="0" y="6356958"/>
                </a:lnTo>
                <a:lnTo>
                  <a:pt x="0" y="0"/>
                </a:lnTo>
                <a:close/>
              </a:path>
            </a:pathLst>
          </a:custGeom>
          <a:blipFill>
            <a:blip r:embed="rId2"/>
            <a:stretch>
              <a:fillRect/>
            </a:stretch>
          </a:blipFill>
        </p:spPr>
        <p:txBody>
          <a:bodyPr/>
          <a:lstStyle/>
          <a:p>
            <a:endParaRPr lang="en-US"/>
          </a:p>
        </p:txBody>
      </p:sp>
      <p:sp>
        <p:nvSpPr>
          <p:cNvPr id="9" name="Freeform 9"/>
          <p:cNvSpPr/>
          <p:nvPr/>
        </p:nvSpPr>
        <p:spPr>
          <a:xfrm>
            <a:off x="9144000" y="1510800"/>
            <a:ext cx="5371630" cy="6356958"/>
          </a:xfrm>
          <a:custGeom>
            <a:avLst/>
            <a:gdLst/>
            <a:ahLst/>
            <a:cxnLst/>
            <a:rect l="l" t="t" r="r" b="b"/>
            <a:pathLst>
              <a:path w="5371630" h="6356958">
                <a:moveTo>
                  <a:pt x="0" y="0"/>
                </a:moveTo>
                <a:lnTo>
                  <a:pt x="5371630" y="0"/>
                </a:lnTo>
                <a:lnTo>
                  <a:pt x="5371630" y="6356958"/>
                </a:lnTo>
                <a:lnTo>
                  <a:pt x="0" y="6356958"/>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4037130" cy="3347183"/>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DNS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Add DNS servers (8.8.8.8, 1.1.1.1)</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Static tab</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domain name and IP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Apply and OK</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0372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59300" y="-764761"/>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8" name="Freeform 8"/>
          <p:cNvSpPr/>
          <p:nvPr/>
        </p:nvSpPr>
        <p:spPr>
          <a:xfrm>
            <a:off x="5622709" y="1263275"/>
            <a:ext cx="5671856" cy="6259179"/>
          </a:xfrm>
          <a:custGeom>
            <a:avLst/>
            <a:gdLst/>
            <a:ahLst/>
            <a:cxnLst/>
            <a:rect l="l" t="t" r="r" b="b"/>
            <a:pathLst>
              <a:path w="5671856" h="6259179">
                <a:moveTo>
                  <a:pt x="0" y="0"/>
                </a:moveTo>
                <a:lnTo>
                  <a:pt x="5671856" y="0"/>
                </a:lnTo>
                <a:lnTo>
                  <a:pt x="5671856" y="6259179"/>
                </a:lnTo>
                <a:lnTo>
                  <a:pt x="0" y="6259179"/>
                </a:lnTo>
                <a:lnTo>
                  <a:pt x="0" y="0"/>
                </a:lnTo>
                <a:close/>
              </a:path>
            </a:pathLst>
          </a:custGeom>
          <a:blipFill>
            <a:blip r:embed="rId2"/>
            <a:stretch>
              <a:fillRect/>
            </a:stretch>
          </a:blipFill>
        </p:spPr>
        <p:txBody>
          <a:bodyPr/>
          <a:lstStyle/>
          <a:p>
            <a:endParaRPr lang="en-US"/>
          </a:p>
        </p:txBody>
      </p:sp>
      <p:sp>
        <p:nvSpPr>
          <p:cNvPr id="9" name="Freeform 9"/>
          <p:cNvSpPr/>
          <p:nvPr/>
        </p:nvSpPr>
        <p:spPr>
          <a:xfrm>
            <a:off x="11659966" y="2343387"/>
            <a:ext cx="5233933" cy="3971036"/>
          </a:xfrm>
          <a:custGeom>
            <a:avLst/>
            <a:gdLst/>
            <a:ahLst/>
            <a:cxnLst/>
            <a:rect l="l" t="t" r="r" b="b"/>
            <a:pathLst>
              <a:path w="5233933" h="3971036">
                <a:moveTo>
                  <a:pt x="0" y="0"/>
                </a:moveTo>
                <a:lnTo>
                  <a:pt x="5233933" y="0"/>
                </a:lnTo>
                <a:lnTo>
                  <a:pt x="5233933" y="3971035"/>
                </a:lnTo>
                <a:lnTo>
                  <a:pt x="0" y="3971035"/>
                </a:lnTo>
                <a:lnTo>
                  <a:pt x="0" y="0"/>
                </a:lnTo>
                <a:close/>
              </a:path>
            </a:pathLst>
          </a:custGeom>
          <a:blipFill>
            <a:blip r:embed="rId3"/>
            <a:stretch>
              <a:fillRect/>
            </a:stretch>
          </a:blipFill>
        </p:spPr>
        <p:txBody>
          <a:bodyPr/>
          <a:lstStyle/>
          <a:p>
            <a:endParaRPr lang="en-US"/>
          </a:p>
        </p:txBody>
      </p:sp>
      <p:sp>
        <p:nvSpPr>
          <p:cNvPr id="10" name="TextBox 10"/>
          <p:cNvSpPr txBox="1"/>
          <p:nvPr/>
        </p:nvSpPr>
        <p:spPr>
          <a:xfrm>
            <a:off x="844755" y="3260539"/>
            <a:ext cx="4037130" cy="3347183"/>
          </a:xfrm>
          <a:prstGeom prst="rect">
            <a:avLst/>
          </a:prstGeom>
        </p:spPr>
        <p:txBody>
          <a:bodyPr lIns="0" tIns="0" rIns="0" bIns="0" rtlCol="0" anchor="t">
            <a:spAutoFit/>
          </a:bodyPr>
          <a:lstStyle/>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IP → DNS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Add DNS servers (8.8.8.8, 1.1.1.1)</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Go to Static tab</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Click +</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Enter domain name and IP address</a:t>
            </a:r>
          </a:p>
          <a:p>
            <a:pPr marL="452561" lvl="1" indent="-226280" algn="just">
              <a:lnSpc>
                <a:spcPts val="2934"/>
              </a:lnSpc>
              <a:buFont typeface="Arial"/>
              <a:buChar char="•"/>
            </a:pPr>
            <a:r>
              <a:rPr lang="en-US" sz="2096" b="1">
                <a:solidFill>
                  <a:srgbClr val="FFFFFF"/>
                </a:solidFill>
                <a:latin typeface="Poppins Bold"/>
                <a:ea typeface="Poppins Bold"/>
                <a:cs typeface="Poppins Bold"/>
                <a:sym typeface="Poppins Bold"/>
              </a:rPr>
              <a:t>Apply and OK</a:t>
            </a:r>
          </a:p>
          <a:p>
            <a:pPr algn="just">
              <a:lnSpc>
                <a:spcPts val="2934"/>
              </a:lnSpc>
            </a:pPr>
            <a:endParaRPr lang="en-US" sz="2096" b="1">
              <a:solidFill>
                <a:srgbClr val="FFFFFF"/>
              </a:solidFill>
              <a:latin typeface="Poppins Bold"/>
              <a:ea typeface="Poppins Bold"/>
              <a:cs typeface="Poppins Bold"/>
              <a:sym typeface="Poppins Bold"/>
            </a:endParaRPr>
          </a:p>
        </p:txBody>
      </p:sp>
      <p:sp>
        <p:nvSpPr>
          <p:cNvPr id="11" name="TextBox 11"/>
          <p:cNvSpPr txBox="1"/>
          <p:nvPr/>
        </p:nvSpPr>
        <p:spPr>
          <a:xfrm>
            <a:off x="1391788" y="1852214"/>
            <a:ext cx="20372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470952" y="-764761"/>
            <a:ext cx="6312641" cy="11463021"/>
            <a:chOff x="0" y="0"/>
            <a:chExt cx="977993" cy="1775922"/>
          </a:xfrm>
        </p:grpSpPr>
        <p:sp>
          <p:nvSpPr>
            <p:cNvPr id="3" name="Freeform 3"/>
            <p:cNvSpPr/>
            <p:nvPr/>
          </p:nvSpPr>
          <p:spPr>
            <a:xfrm>
              <a:off x="0" y="0"/>
              <a:ext cx="977993" cy="1775922"/>
            </a:xfrm>
            <a:custGeom>
              <a:avLst/>
              <a:gdLst/>
              <a:ahLst/>
              <a:cxnLst/>
              <a:rect l="l" t="t" r="r" b="b"/>
              <a:pathLst>
                <a:path w="977993" h="1775922">
                  <a:moveTo>
                    <a:pt x="0" y="0"/>
                  </a:moveTo>
                  <a:lnTo>
                    <a:pt x="977993" y="0"/>
                  </a:lnTo>
                  <a:lnTo>
                    <a:pt x="977993" y="1775922"/>
                  </a:lnTo>
                  <a:lnTo>
                    <a:pt x="0" y="1775922"/>
                  </a:lnTo>
                  <a:close/>
                </a:path>
              </a:pathLst>
            </a:custGeom>
            <a:blipFill>
              <a:blip r:embed="rId2"/>
              <a:stretch>
                <a:fillRect l="-86276" r="-86276"/>
              </a:stretch>
            </a:blipFill>
          </p:spPr>
          <p:txBody>
            <a:bodyPr/>
            <a:lstStyle/>
            <a:p>
              <a:endParaRPr lang="en-US"/>
            </a:p>
          </p:txBody>
        </p:sp>
      </p:grpSp>
      <p:grpSp>
        <p:nvGrpSpPr>
          <p:cNvPr id="4" name="Group 4"/>
          <p:cNvGrpSpPr/>
          <p:nvPr/>
        </p:nvGrpSpPr>
        <p:grpSpPr>
          <a:xfrm>
            <a:off x="5419312" y="2933955"/>
            <a:ext cx="844755" cy="4419090"/>
            <a:chOff x="0" y="0"/>
            <a:chExt cx="222487" cy="1163875"/>
          </a:xfrm>
        </p:grpSpPr>
        <p:sp>
          <p:nvSpPr>
            <p:cNvPr id="5" name="Freeform 5"/>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6" name="TextBox 6"/>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7250246" y="1250123"/>
            <a:ext cx="10009054" cy="1149161"/>
          </a:xfrm>
          <a:prstGeom prst="rect">
            <a:avLst/>
          </a:prstGeom>
        </p:spPr>
        <p:txBody>
          <a:bodyPr lIns="0" tIns="0" rIns="0" bIns="0" rtlCol="0" anchor="t">
            <a:spAutoFit/>
          </a:bodyPr>
          <a:lstStyle/>
          <a:p>
            <a:pPr marL="794566" lvl="1" algn="l">
              <a:lnSpc>
                <a:spcPts val="9200"/>
              </a:lnSpc>
            </a:pPr>
            <a:r>
              <a:rPr lang="en-US" sz="7360" b="1" dirty="0">
                <a:solidFill>
                  <a:srgbClr val="FFFFFF"/>
                </a:solidFill>
                <a:latin typeface="Poppins Bold"/>
                <a:ea typeface="Poppins Bold"/>
                <a:cs typeface="Poppins Bold"/>
                <a:sym typeface="Poppins Bold"/>
              </a:rPr>
              <a:t>7.Kid Control</a:t>
            </a:r>
          </a:p>
        </p:txBody>
      </p:sp>
      <p:grpSp>
        <p:nvGrpSpPr>
          <p:cNvPr id="8" name="Group 8"/>
          <p:cNvGrpSpPr/>
          <p:nvPr/>
        </p:nvGrpSpPr>
        <p:grpSpPr>
          <a:xfrm>
            <a:off x="17259300" y="-764761"/>
            <a:ext cx="1617854" cy="11838355"/>
            <a:chOff x="0" y="0"/>
            <a:chExt cx="426101" cy="3117921"/>
          </a:xfrm>
        </p:grpSpPr>
        <p:sp>
          <p:nvSpPr>
            <p:cNvPr id="9" name="Freeform 9"/>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10" name="TextBox 10"/>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7250246" y="3793369"/>
            <a:ext cx="8693261" cy="3386183"/>
          </a:xfrm>
          <a:prstGeom prst="rect">
            <a:avLst/>
          </a:prstGeom>
        </p:spPr>
        <p:txBody>
          <a:bodyPr lIns="0" tIns="0" rIns="0" bIns="0" rtlCol="0" anchor="t">
            <a:spAutoFit/>
          </a:bodyPr>
          <a:lstStyle/>
          <a:p>
            <a:pPr marL="582099" lvl="1" indent="-291050" algn="just">
              <a:lnSpc>
                <a:spcPts val="3774"/>
              </a:lnSpc>
              <a:buFont typeface="Arial"/>
              <a:buChar char="•"/>
            </a:pPr>
            <a:r>
              <a:rPr lang="en-US" sz="2696" dirty="0">
                <a:solidFill>
                  <a:srgbClr val="FFFFFF"/>
                </a:solidFill>
                <a:latin typeface="Poppins"/>
                <a:ea typeface="Poppins"/>
                <a:cs typeface="Poppins"/>
                <a:sym typeface="Poppins"/>
              </a:rPr>
              <a:t>Kid Control is a feature that allows you to manage internet access for specific devices on your network, such as restricting access for children's devices during certain times. It allows you to create profiles that block internet connectivity based on a schedule (e.g., blocking access on specific days or hours).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2479734"/>
            <a:ext cx="844755" cy="4419090"/>
            <a:chOff x="0" y="0"/>
            <a:chExt cx="222487" cy="1163875"/>
          </a:xfrm>
        </p:grpSpPr>
        <p:sp>
          <p:nvSpPr>
            <p:cNvPr id="3" name="Freeform 3"/>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7297400" y="-775678"/>
            <a:ext cx="1617854" cy="11838355"/>
            <a:chOff x="0" y="0"/>
            <a:chExt cx="426101" cy="3117921"/>
          </a:xfrm>
        </p:grpSpPr>
        <p:sp>
          <p:nvSpPr>
            <p:cNvPr id="6" name="Freeform 6"/>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1371600" y="1783029"/>
            <a:ext cx="20372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
        <p:nvSpPr>
          <p:cNvPr id="12" name="Rectangle 1">
            <a:extLst>
              <a:ext uri="{FF2B5EF4-FFF2-40B4-BE49-F238E27FC236}">
                <a16:creationId xmlns:a16="http://schemas.microsoft.com/office/drawing/2014/main" id="{6AA101D5-FFDD-468D-50BF-DB38A397F026}"/>
              </a:ext>
            </a:extLst>
          </p:cNvPr>
          <p:cNvSpPr>
            <a:spLocks noChangeArrowheads="1"/>
          </p:cNvSpPr>
          <p:nvPr/>
        </p:nvSpPr>
        <p:spPr bwMode="auto">
          <a:xfrm>
            <a:off x="844755" y="3119618"/>
            <a:ext cx="288904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Go to </a:t>
            </a:r>
            <a:r>
              <a:rPr kumimoji="0" lang="en-US" altLang="en-US" sz="1800" b="1" i="0" u="none" strike="noStrike" cap="none" normalizeH="0" baseline="0" dirty="0">
                <a:ln>
                  <a:noFill/>
                </a:ln>
                <a:solidFill>
                  <a:schemeClr val="bg1"/>
                </a:solidFill>
                <a:effectLst/>
                <a:latin typeface="Canva Sans Bold" panose="020B0604020202020204" charset="0"/>
              </a:rPr>
              <a:t>IP → Kid Control</a:t>
            </a:r>
            <a:r>
              <a:rPr kumimoji="0" lang="en-US" altLang="en-US" sz="1800" b="0" i="0" u="none" strike="noStrike" cap="none" normalizeH="0" baseline="0" dirty="0">
                <a:ln>
                  <a:noFill/>
                </a:ln>
                <a:solidFill>
                  <a:schemeClr val="bg1"/>
                </a:solidFill>
                <a:effectLst/>
                <a:latin typeface="Canva Sans Bol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Create a profile and set allowed time slots (e.g., 7 AM - 1 PM).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Go to </a:t>
            </a:r>
            <a:r>
              <a:rPr kumimoji="0" lang="en-US" altLang="en-US" sz="1800" b="1" i="0" u="none" strike="noStrike" cap="none" normalizeH="0" baseline="0" dirty="0">
                <a:ln>
                  <a:noFill/>
                </a:ln>
                <a:solidFill>
                  <a:schemeClr val="bg1"/>
                </a:solidFill>
                <a:effectLst/>
                <a:latin typeface="Canva Sans Bold" panose="020B0604020202020204" charset="0"/>
              </a:rPr>
              <a:t>Devices</a:t>
            </a:r>
            <a:r>
              <a:rPr kumimoji="0" lang="en-US" altLang="en-US" sz="1800" b="0" i="0" u="none" strike="noStrike" cap="none" normalizeH="0" baseline="0" dirty="0">
                <a:ln>
                  <a:noFill/>
                </a:ln>
                <a:solidFill>
                  <a:schemeClr val="bg1"/>
                </a:solidFill>
                <a:effectLst/>
                <a:latin typeface="Canva Sans Bold" panose="020B0604020202020204" charset="0"/>
              </a:rPr>
              <a:t> tab and click </a:t>
            </a:r>
            <a:r>
              <a:rPr kumimoji="0" lang="en-US" altLang="en-US" sz="1800" b="1" i="0" u="none" strike="noStrike" cap="none" normalizeH="0" baseline="0" dirty="0">
                <a:ln>
                  <a:noFill/>
                </a:ln>
                <a:solidFill>
                  <a:schemeClr val="bg1"/>
                </a:solidFill>
                <a:effectLst/>
                <a:latin typeface="Canva Sans Bold" panose="020B0604020202020204" charset="0"/>
              </a:rPr>
              <a:t>+</a:t>
            </a:r>
            <a:r>
              <a:rPr kumimoji="0" lang="en-US" altLang="en-US" sz="1800" b="0" i="0" u="none" strike="noStrike" cap="none" normalizeH="0" baseline="0" dirty="0">
                <a:ln>
                  <a:noFill/>
                </a:ln>
                <a:solidFill>
                  <a:schemeClr val="bg1"/>
                </a:solidFill>
                <a:effectLst/>
                <a:latin typeface="Canva Sans Bol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Enter the child's device </a:t>
            </a:r>
            <a:r>
              <a:rPr kumimoji="0" lang="en-US" altLang="en-US" sz="1800" b="1" i="0" u="none" strike="noStrike" cap="none" normalizeH="0" baseline="0" dirty="0">
                <a:ln>
                  <a:noFill/>
                </a:ln>
                <a:solidFill>
                  <a:schemeClr val="bg1"/>
                </a:solidFill>
                <a:effectLst/>
                <a:latin typeface="Canva Sans Bold" panose="020B0604020202020204" charset="0"/>
              </a:rPr>
              <a:t>MAC Address</a:t>
            </a:r>
            <a:r>
              <a:rPr kumimoji="0" lang="en-US" altLang="en-US" sz="1800" b="0" i="0" u="none" strike="noStrike" cap="none" normalizeH="0" baseline="0" dirty="0">
                <a:ln>
                  <a:noFill/>
                </a:ln>
                <a:solidFill>
                  <a:schemeClr val="bg1"/>
                </a:solidFill>
                <a:effectLst/>
                <a:latin typeface="Canva Sans Bol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Select the </a:t>
            </a:r>
            <a:r>
              <a:rPr kumimoji="0" lang="en-US" altLang="en-US" sz="1800" b="1" i="0" u="none" strike="noStrike" cap="none" normalizeH="0" baseline="0" dirty="0">
                <a:ln>
                  <a:noFill/>
                </a:ln>
                <a:solidFill>
                  <a:schemeClr val="bg1"/>
                </a:solidFill>
                <a:effectLst/>
                <a:latin typeface="Canva Sans Bold" panose="020B0604020202020204" charset="0"/>
              </a:rPr>
              <a:t>User Profile</a:t>
            </a:r>
            <a:r>
              <a:rPr kumimoji="0" lang="en-US" altLang="en-US" sz="1800" b="0" i="0" u="none" strike="noStrike" cap="none" normalizeH="0" baseline="0" dirty="0">
                <a:ln>
                  <a:noFill/>
                </a:ln>
                <a:solidFill>
                  <a:schemeClr val="bg1"/>
                </a:solidFill>
                <a:effectLst/>
                <a:latin typeface="Canva Sans Bold" panose="020B0604020202020204" charset="0"/>
              </a:rPr>
              <a:t> created earlier.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Click </a:t>
            </a:r>
            <a:r>
              <a:rPr kumimoji="0" lang="en-US" altLang="en-US" sz="1800" b="1" i="0" u="none" strike="noStrike" cap="none" normalizeH="0" baseline="0" dirty="0">
                <a:ln>
                  <a:noFill/>
                </a:ln>
                <a:solidFill>
                  <a:schemeClr val="bg1"/>
                </a:solidFill>
                <a:effectLst/>
                <a:latin typeface="Canva Sans Bold" panose="020B0604020202020204" charset="0"/>
              </a:rPr>
              <a:t>OK</a:t>
            </a:r>
            <a:r>
              <a:rPr kumimoji="0" lang="en-US" altLang="en-US" sz="1800" b="0" i="0" u="none" strike="noStrike" cap="none" normalizeH="0" baseline="0" dirty="0">
                <a:ln>
                  <a:noFill/>
                </a:ln>
                <a:solidFill>
                  <a:schemeClr val="bg1"/>
                </a:solidFill>
                <a:effectLst/>
                <a:latin typeface="Canva Sans Bold" panose="020B0604020202020204" charset="0"/>
              </a:rPr>
              <a:t> to activate</a:t>
            </a:r>
            <a:r>
              <a:rPr kumimoji="0" lang="en-US" altLang="en-US" sz="1800" b="0" i="0" u="none" strike="noStrike" cap="none" normalizeH="0" baseline="0" dirty="0">
                <a:ln>
                  <a:noFill/>
                </a:ln>
                <a:solidFill>
                  <a:schemeClr val="tx1"/>
                </a:solidFill>
                <a:effectLst/>
                <a:latin typeface="Canva Sans Bold" panose="020B0604020202020204" charset="0"/>
              </a:rPr>
              <a:t>.</a:t>
            </a:r>
          </a:p>
        </p:txBody>
      </p:sp>
      <p:pic>
        <p:nvPicPr>
          <p:cNvPr id="16" name="Picture 15" descr="A screenshot of a computer&#10;&#10;AI-generated content may be incorrect.">
            <a:extLst>
              <a:ext uri="{FF2B5EF4-FFF2-40B4-BE49-F238E27FC236}">
                <a16:creationId xmlns:a16="http://schemas.microsoft.com/office/drawing/2014/main" id="{AA6FA1DC-97F8-F1B8-0B31-9F11D558CC48}"/>
              </a:ext>
            </a:extLst>
          </p:cNvPr>
          <p:cNvPicPr>
            <a:picLocks noChangeAspect="1"/>
          </p:cNvPicPr>
          <p:nvPr/>
        </p:nvPicPr>
        <p:blipFill>
          <a:blip r:embed="rId2"/>
          <a:stretch>
            <a:fillRect/>
          </a:stretch>
        </p:blipFill>
        <p:spPr>
          <a:xfrm>
            <a:off x="4619350" y="1350675"/>
            <a:ext cx="6039693" cy="7354326"/>
          </a:xfrm>
          <a:prstGeom prst="rect">
            <a:avLst/>
          </a:prstGeom>
        </p:spPr>
      </p:pic>
      <p:pic>
        <p:nvPicPr>
          <p:cNvPr id="18" name="Picture 17" descr="A screenshot of a computer&#10;&#10;AI-generated content may be incorrect.">
            <a:extLst>
              <a:ext uri="{FF2B5EF4-FFF2-40B4-BE49-F238E27FC236}">
                <a16:creationId xmlns:a16="http://schemas.microsoft.com/office/drawing/2014/main" id="{A4489B00-A71D-B02C-1E25-AF842D843C53}"/>
              </a:ext>
            </a:extLst>
          </p:cNvPr>
          <p:cNvPicPr>
            <a:picLocks noChangeAspect="1"/>
          </p:cNvPicPr>
          <p:nvPr/>
        </p:nvPicPr>
        <p:blipFill>
          <a:blip r:embed="rId3"/>
          <a:stretch>
            <a:fillRect/>
          </a:stretch>
        </p:blipFill>
        <p:spPr>
          <a:xfrm>
            <a:off x="11000523" y="2024053"/>
            <a:ext cx="5955397" cy="478259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a:extLst>
            <a:ext uri="{FF2B5EF4-FFF2-40B4-BE49-F238E27FC236}">
              <a16:creationId xmlns:a16="http://schemas.microsoft.com/office/drawing/2014/main" id="{3B75223E-FD08-5A88-C948-90A339C5632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809F76-55E5-1F6C-27AF-DBC198F9AE1A}"/>
              </a:ext>
            </a:extLst>
          </p:cNvPr>
          <p:cNvGrpSpPr/>
          <p:nvPr/>
        </p:nvGrpSpPr>
        <p:grpSpPr>
          <a:xfrm>
            <a:off x="0" y="2479734"/>
            <a:ext cx="844755" cy="4419090"/>
            <a:chOff x="0" y="0"/>
            <a:chExt cx="222487" cy="1163875"/>
          </a:xfrm>
        </p:grpSpPr>
        <p:sp>
          <p:nvSpPr>
            <p:cNvPr id="3" name="Freeform 3">
              <a:extLst>
                <a:ext uri="{FF2B5EF4-FFF2-40B4-BE49-F238E27FC236}">
                  <a16:creationId xmlns:a16="http://schemas.microsoft.com/office/drawing/2014/main" id="{EE60B465-7F2C-95F7-263B-5B62906CB6D8}"/>
                </a:ext>
              </a:extLst>
            </p:cNvPr>
            <p:cNvSpPr/>
            <p:nvPr/>
          </p:nvSpPr>
          <p:spPr>
            <a:xfrm>
              <a:off x="0" y="0"/>
              <a:ext cx="222487" cy="1163875"/>
            </a:xfrm>
            <a:custGeom>
              <a:avLst/>
              <a:gdLst/>
              <a:ahLst/>
              <a:cxnLst/>
              <a:rect l="l" t="t" r="r" b="b"/>
              <a:pathLst>
                <a:path w="222487" h="1163875">
                  <a:moveTo>
                    <a:pt x="0" y="0"/>
                  </a:moveTo>
                  <a:lnTo>
                    <a:pt x="222487" y="0"/>
                  </a:lnTo>
                  <a:lnTo>
                    <a:pt x="222487" y="1163875"/>
                  </a:lnTo>
                  <a:lnTo>
                    <a:pt x="0" y="1163875"/>
                  </a:lnTo>
                  <a:close/>
                </a:path>
              </a:pathLst>
            </a:custGeom>
            <a:solidFill>
              <a:srgbClr val="7ED957"/>
            </a:solidFill>
          </p:spPr>
          <p:txBody>
            <a:bodyPr/>
            <a:lstStyle/>
            <a:p>
              <a:endParaRPr lang="en-US"/>
            </a:p>
          </p:txBody>
        </p:sp>
        <p:sp>
          <p:nvSpPr>
            <p:cNvPr id="4" name="TextBox 4">
              <a:extLst>
                <a:ext uri="{FF2B5EF4-FFF2-40B4-BE49-F238E27FC236}">
                  <a16:creationId xmlns:a16="http://schemas.microsoft.com/office/drawing/2014/main" id="{A4AB0AD2-1E8E-BCE1-2773-2A6AFD160AB7}"/>
                </a:ext>
              </a:extLst>
            </p:cNvPr>
            <p:cNvSpPr txBox="1"/>
            <p:nvPr/>
          </p:nvSpPr>
          <p:spPr>
            <a:xfrm>
              <a:off x="0" y="-66675"/>
              <a:ext cx="222487" cy="1230550"/>
            </a:xfrm>
            <a:prstGeom prst="rect">
              <a:avLst/>
            </a:prstGeom>
          </p:spPr>
          <p:txBody>
            <a:bodyPr lIns="50800" tIns="50800" rIns="50800" bIns="50800" rtlCol="0" anchor="ctr"/>
            <a:lstStyle/>
            <a:p>
              <a:pPr algn="ctr">
                <a:lnSpc>
                  <a:spcPts val="3359"/>
                </a:lnSpc>
              </a:pPr>
              <a:endParaRPr/>
            </a:p>
          </p:txBody>
        </p:sp>
      </p:grpSp>
      <p:grpSp>
        <p:nvGrpSpPr>
          <p:cNvPr id="5" name="Group 5">
            <a:extLst>
              <a:ext uri="{FF2B5EF4-FFF2-40B4-BE49-F238E27FC236}">
                <a16:creationId xmlns:a16="http://schemas.microsoft.com/office/drawing/2014/main" id="{17414D52-A060-2849-C94A-D02D844A3B5F}"/>
              </a:ext>
            </a:extLst>
          </p:cNvPr>
          <p:cNvGrpSpPr/>
          <p:nvPr/>
        </p:nvGrpSpPr>
        <p:grpSpPr>
          <a:xfrm>
            <a:off x="17297400" y="-775678"/>
            <a:ext cx="1617854" cy="11838355"/>
            <a:chOff x="0" y="0"/>
            <a:chExt cx="426101" cy="3117921"/>
          </a:xfrm>
        </p:grpSpPr>
        <p:sp>
          <p:nvSpPr>
            <p:cNvPr id="6" name="Freeform 6">
              <a:extLst>
                <a:ext uri="{FF2B5EF4-FFF2-40B4-BE49-F238E27FC236}">
                  <a16:creationId xmlns:a16="http://schemas.microsoft.com/office/drawing/2014/main" id="{F747D996-5D63-B447-6CAC-E5E68F43AF87}"/>
                </a:ext>
              </a:extLst>
            </p:cNvPr>
            <p:cNvSpPr/>
            <p:nvPr/>
          </p:nvSpPr>
          <p:spPr>
            <a:xfrm>
              <a:off x="0" y="0"/>
              <a:ext cx="426101" cy="3117921"/>
            </a:xfrm>
            <a:custGeom>
              <a:avLst/>
              <a:gdLst/>
              <a:ahLst/>
              <a:cxnLst/>
              <a:rect l="l" t="t" r="r" b="b"/>
              <a:pathLst>
                <a:path w="426101" h="3117921">
                  <a:moveTo>
                    <a:pt x="0" y="0"/>
                  </a:moveTo>
                  <a:lnTo>
                    <a:pt x="426101" y="0"/>
                  </a:lnTo>
                  <a:lnTo>
                    <a:pt x="426101" y="3117921"/>
                  </a:lnTo>
                  <a:lnTo>
                    <a:pt x="0" y="3117921"/>
                  </a:lnTo>
                  <a:close/>
                </a:path>
              </a:pathLst>
            </a:custGeom>
            <a:solidFill>
              <a:srgbClr val="7ED957"/>
            </a:solidFill>
          </p:spPr>
          <p:txBody>
            <a:bodyPr/>
            <a:lstStyle/>
            <a:p>
              <a:endParaRPr lang="en-US"/>
            </a:p>
          </p:txBody>
        </p:sp>
        <p:sp>
          <p:nvSpPr>
            <p:cNvPr id="7" name="TextBox 7">
              <a:extLst>
                <a:ext uri="{FF2B5EF4-FFF2-40B4-BE49-F238E27FC236}">
                  <a16:creationId xmlns:a16="http://schemas.microsoft.com/office/drawing/2014/main" id="{4C8596D5-999F-C934-4C3E-A9A97A61B573}"/>
                </a:ext>
              </a:extLst>
            </p:cNvPr>
            <p:cNvSpPr txBox="1"/>
            <p:nvPr/>
          </p:nvSpPr>
          <p:spPr>
            <a:xfrm>
              <a:off x="0" y="-66675"/>
              <a:ext cx="426101" cy="3184596"/>
            </a:xfrm>
            <a:prstGeom prst="rect">
              <a:avLst/>
            </a:prstGeom>
          </p:spPr>
          <p:txBody>
            <a:bodyPr lIns="50800" tIns="50800" rIns="50800" bIns="50800" rtlCol="0" anchor="ctr"/>
            <a:lstStyle/>
            <a:p>
              <a:pPr algn="ctr">
                <a:lnSpc>
                  <a:spcPts val="3359"/>
                </a:lnSpc>
              </a:pPr>
              <a:endParaRPr/>
            </a:p>
          </p:txBody>
        </p:sp>
      </p:grpSp>
      <p:sp>
        <p:nvSpPr>
          <p:cNvPr id="11" name="TextBox 11">
            <a:extLst>
              <a:ext uri="{FF2B5EF4-FFF2-40B4-BE49-F238E27FC236}">
                <a16:creationId xmlns:a16="http://schemas.microsoft.com/office/drawing/2014/main" id="{71AA23A2-EA8C-399D-9D4C-281FC854492F}"/>
              </a:ext>
            </a:extLst>
          </p:cNvPr>
          <p:cNvSpPr txBox="1"/>
          <p:nvPr/>
        </p:nvSpPr>
        <p:spPr>
          <a:xfrm>
            <a:off x="1371600" y="1783029"/>
            <a:ext cx="2037212" cy="887095"/>
          </a:xfrm>
          <a:prstGeom prst="rect">
            <a:avLst/>
          </a:prstGeom>
        </p:spPr>
        <p:txBody>
          <a:bodyPr wrap="square" lIns="0" tIns="0" rIns="0" bIns="0" rtlCol="0" anchor="t">
            <a:spAutoFit/>
          </a:bodyPr>
          <a:lstStyle/>
          <a:p>
            <a:pPr algn="ctr">
              <a:lnSpc>
                <a:spcPts val="7279"/>
              </a:lnSpc>
            </a:pPr>
            <a:r>
              <a:rPr lang="en-US" sz="5199" b="1" dirty="0">
                <a:solidFill>
                  <a:srgbClr val="FFFFFF"/>
                </a:solidFill>
                <a:latin typeface="Canva Sans Bold"/>
                <a:ea typeface="Canva Sans Bold"/>
                <a:cs typeface="Canva Sans Bold"/>
                <a:sym typeface="Canva Sans Bold"/>
              </a:rPr>
              <a:t>Steps</a:t>
            </a:r>
          </a:p>
        </p:txBody>
      </p:sp>
      <p:sp>
        <p:nvSpPr>
          <p:cNvPr id="12" name="Rectangle 1">
            <a:extLst>
              <a:ext uri="{FF2B5EF4-FFF2-40B4-BE49-F238E27FC236}">
                <a16:creationId xmlns:a16="http://schemas.microsoft.com/office/drawing/2014/main" id="{21B743F5-F07E-B9CA-2B72-64578E4D5773}"/>
              </a:ext>
            </a:extLst>
          </p:cNvPr>
          <p:cNvSpPr>
            <a:spLocks noChangeArrowheads="1"/>
          </p:cNvSpPr>
          <p:nvPr/>
        </p:nvSpPr>
        <p:spPr bwMode="auto">
          <a:xfrm>
            <a:off x="844755" y="3119618"/>
            <a:ext cx="2889045"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Go to </a:t>
            </a:r>
            <a:r>
              <a:rPr kumimoji="0" lang="en-US" altLang="en-US" sz="1800" b="1" i="0" u="none" strike="noStrike" cap="none" normalizeH="0" baseline="0" dirty="0">
                <a:ln>
                  <a:noFill/>
                </a:ln>
                <a:solidFill>
                  <a:schemeClr val="bg1"/>
                </a:solidFill>
                <a:effectLst/>
                <a:latin typeface="Canva Sans Bold" panose="020B0604020202020204" charset="0"/>
              </a:rPr>
              <a:t>IP → Kid Control</a:t>
            </a:r>
            <a:r>
              <a:rPr kumimoji="0" lang="en-US" altLang="en-US" sz="1800" b="0" i="0" u="none" strike="noStrike" cap="none" normalizeH="0" baseline="0" dirty="0">
                <a:ln>
                  <a:noFill/>
                </a:ln>
                <a:solidFill>
                  <a:schemeClr val="bg1"/>
                </a:solidFill>
                <a:effectLst/>
                <a:latin typeface="Canva Sans Bol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Create a profile and set allowed time slots (e.g., 7 AM - 1 PM).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Go to </a:t>
            </a:r>
            <a:r>
              <a:rPr kumimoji="0" lang="en-US" altLang="en-US" sz="1800" b="1" i="0" u="none" strike="noStrike" cap="none" normalizeH="0" baseline="0" dirty="0">
                <a:ln>
                  <a:noFill/>
                </a:ln>
                <a:solidFill>
                  <a:schemeClr val="bg1"/>
                </a:solidFill>
                <a:effectLst/>
                <a:latin typeface="Canva Sans Bold" panose="020B0604020202020204" charset="0"/>
              </a:rPr>
              <a:t>Devices</a:t>
            </a:r>
            <a:r>
              <a:rPr kumimoji="0" lang="en-US" altLang="en-US" sz="1800" b="0" i="0" u="none" strike="noStrike" cap="none" normalizeH="0" baseline="0" dirty="0">
                <a:ln>
                  <a:noFill/>
                </a:ln>
                <a:solidFill>
                  <a:schemeClr val="bg1"/>
                </a:solidFill>
                <a:effectLst/>
                <a:latin typeface="Canva Sans Bold" panose="020B0604020202020204" charset="0"/>
              </a:rPr>
              <a:t> tab and click </a:t>
            </a:r>
            <a:r>
              <a:rPr kumimoji="0" lang="en-US" altLang="en-US" sz="1800" b="1" i="0" u="none" strike="noStrike" cap="none" normalizeH="0" baseline="0" dirty="0">
                <a:ln>
                  <a:noFill/>
                </a:ln>
                <a:solidFill>
                  <a:schemeClr val="bg1"/>
                </a:solidFill>
                <a:effectLst/>
                <a:latin typeface="Canva Sans Bold" panose="020B0604020202020204" charset="0"/>
              </a:rPr>
              <a:t>+</a:t>
            </a:r>
            <a:r>
              <a:rPr kumimoji="0" lang="en-US" altLang="en-US" sz="1800" b="0" i="0" u="none" strike="noStrike" cap="none" normalizeH="0" baseline="0" dirty="0">
                <a:ln>
                  <a:noFill/>
                </a:ln>
                <a:solidFill>
                  <a:schemeClr val="bg1"/>
                </a:solidFill>
                <a:effectLst/>
                <a:latin typeface="Canva Sans Bol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Enter the child's device </a:t>
            </a:r>
            <a:r>
              <a:rPr kumimoji="0" lang="en-US" altLang="en-US" sz="1800" b="1" i="0" u="none" strike="noStrike" cap="none" normalizeH="0" baseline="0" dirty="0">
                <a:ln>
                  <a:noFill/>
                </a:ln>
                <a:solidFill>
                  <a:schemeClr val="bg1"/>
                </a:solidFill>
                <a:effectLst/>
                <a:latin typeface="Canva Sans Bold" panose="020B0604020202020204" charset="0"/>
              </a:rPr>
              <a:t>MAC Address</a:t>
            </a:r>
            <a:r>
              <a:rPr kumimoji="0" lang="en-US" altLang="en-US" sz="1800" b="0" i="0" u="none" strike="noStrike" cap="none" normalizeH="0" baseline="0" dirty="0">
                <a:ln>
                  <a:noFill/>
                </a:ln>
                <a:solidFill>
                  <a:schemeClr val="bg1"/>
                </a:solidFill>
                <a:effectLst/>
                <a:latin typeface="Canva Sans Bold" panose="020B060402020202020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Select the </a:t>
            </a:r>
            <a:r>
              <a:rPr kumimoji="0" lang="en-US" altLang="en-US" sz="1800" b="1" i="0" u="none" strike="noStrike" cap="none" normalizeH="0" baseline="0" dirty="0">
                <a:ln>
                  <a:noFill/>
                </a:ln>
                <a:solidFill>
                  <a:schemeClr val="bg1"/>
                </a:solidFill>
                <a:effectLst/>
                <a:latin typeface="Canva Sans Bold" panose="020B0604020202020204" charset="0"/>
              </a:rPr>
              <a:t>User Profile</a:t>
            </a:r>
            <a:r>
              <a:rPr kumimoji="0" lang="en-US" altLang="en-US" sz="1800" b="0" i="0" u="none" strike="noStrike" cap="none" normalizeH="0" baseline="0" dirty="0">
                <a:ln>
                  <a:noFill/>
                </a:ln>
                <a:solidFill>
                  <a:schemeClr val="bg1"/>
                </a:solidFill>
                <a:effectLst/>
                <a:latin typeface="Canva Sans Bold" panose="020B0604020202020204" charset="0"/>
              </a:rPr>
              <a:t> created earlier.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Canva Sans Bold" panose="020B0604020202020204" charset="0"/>
              </a:rPr>
              <a:t>Click </a:t>
            </a:r>
            <a:r>
              <a:rPr kumimoji="0" lang="en-US" altLang="en-US" sz="1800" b="1" i="0" u="none" strike="noStrike" cap="none" normalizeH="0" baseline="0" dirty="0">
                <a:ln>
                  <a:noFill/>
                </a:ln>
                <a:solidFill>
                  <a:schemeClr val="bg1"/>
                </a:solidFill>
                <a:effectLst/>
                <a:latin typeface="Canva Sans Bold" panose="020B0604020202020204" charset="0"/>
              </a:rPr>
              <a:t>OK</a:t>
            </a:r>
            <a:r>
              <a:rPr kumimoji="0" lang="en-US" altLang="en-US" sz="1800" b="0" i="0" u="none" strike="noStrike" cap="none" normalizeH="0" baseline="0" dirty="0">
                <a:ln>
                  <a:noFill/>
                </a:ln>
                <a:solidFill>
                  <a:schemeClr val="bg1"/>
                </a:solidFill>
                <a:effectLst/>
                <a:latin typeface="Canva Sans Bold" panose="020B0604020202020204" charset="0"/>
              </a:rPr>
              <a:t> to activate</a:t>
            </a:r>
            <a:r>
              <a:rPr kumimoji="0" lang="en-US" altLang="en-US" sz="1800" b="0" i="0" u="none" strike="noStrike" cap="none" normalizeH="0" baseline="0" dirty="0">
                <a:ln>
                  <a:noFill/>
                </a:ln>
                <a:solidFill>
                  <a:schemeClr val="tx1"/>
                </a:solidFill>
                <a:effectLst/>
                <a:latin typeface="Canva Sans Bold" panose="020B0604020202020204" charset="0"/>
              </a:rPr>
              <a:t>.</a:t>
            </a:r>
          </a:p>
        </p:txBody>
      </p:sp>
      <p:pic>
        <p:nvPicPr>
          <p:cNvPr id="9" name="Picture 8" descr="A screenshot of a computer&#10;&#10;AI-generated content may be incorrect.">
            <a:extLst>
              <a:ext uri="{FF2B5EF4-FFF2-40B4-BE49-F238E27FC236}">
                <a16:creationId xmlns:a16="http://schemas.microsoft.com/office/drawing/2014/main" id="{848617A8-B832-FC37-4AED-7D2FE75B319F}"/>
              </a:ext>
            </a:extLst>
          </p:cNvPr>
          <p:cNvPicPr>
            <a:picLocks noChangeAspect="1"/>
          </p:cNvPicPr>
          <p:nvPr/>
        </p:nvPicPr>
        <p:blipFill>
          <a:blip r:embed="rId2"/>
          <a:stretch>
            <a:fillRect/>
          </a:stretch>
        </p:blipFill>
        <p:spPr>
          <a:xfrm>
            <a:off x="4938891" y="1985985"/>
            <a:ext cx="4229690" cy="2267266"/>
          </a:xfrm>
          <a:prstGeom prst="rect">
            <a:avLst/>
          </a:prstGeom>
        </p:spPr>
      </p:pic>
      <p:pic>
        <p:nvPicPr>
          <p:cNvPr id="13" name="Picture 12" descr="A screenshot of a computer program&#10;&#10;AI-generated content may be incorrect.">
            <a:extLst>
              <a:ext uri="{FF2B5EF4-FFF2-40B4-BE49-F238E27FC236}">
                <a16:creationId xmlns:a16="http://schemas.microsoft.com/office/drawing/2014/main" id="{03731236-820B-80E3-FC14-F9A5B89CB36F}"/>
              </a:ext>
            </a:extLst>
          </p:cNvPr>
          <p:cNvPicPr>
            <a:picLocks noChangeAspect="1"/>
          </p:cNvPicPr>
          <p:nvPr/>
        </p:nvPicPr>
        <p:blipFill>
          <a:blip r:embed="rId3"/>
          <a:stretch>
            <a:fillRect/>
          </a:stretch>
        </p:blipFill>
        <p:spPr>
          <a:xfrm>
            <a:off x="4938891" y="4541806"/>
            <a:ext cx="4382112" cy="2295845"/>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20B09EDE-6817-7D33-B299-3B1FCEE2DF9E}"/>
              </a:ext>
            </a:extLst>
          </p:cNvPr>
          <p:cNvPicPr>
            <a:picLocks noChangeAspect="1"/>
          </p:cNvPicPr>
          <p:nvPr/>
        </p:nvPicPr>
        <p:blipFill>
          <a:blip r:embed="rId4"/>
          <a:stretch>
            <a:fillRect/>
          </a:stretch>
        </p:blipFill>
        <p:spPr>
          <a:xfrm>
            <a:off x="9921470" y="1984756"/>
            <a:ext cx="6682494" cy="5087807"/>
          </a:xfrm>
          <a:prstGeom prst="rect">
            <a:avLst/>
          </a:prstGeom>
        </p:spPr>
      </p:pic>
    </p:spTree>
    <p:extLst>
      <p:ext uri="{BB962C8B-B14F-4D97-AF65-F5344CB8AC3E}">
        <p14:creationId xmlns:p14="http://schemas.microsoft.com/office/powerpoint/2010/main" val="3458776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16230600" cy="6916412"/>
            <a:chOff x="0" y="0"/>
            <a:chExt cx="4274726" cy="1821606"/>
          </a:xfrm>
        </p:grpSpPr>
        <p:sp>
          <p:nvSpPr>
            <p:cNvPr id="3" name="Freeform 3"/>
            <p:cNvSpPr/>
            <p:nvPr/>
          </p:nvSpPr>
          <p:spPr>
            <a:xfrm>
              <a:off x="0" y="0"/>
              <a:ext cx="4274726" cy="1821606"/>
            </a:xfrm>
            <a:custGeom>
              <a:avLst/>
              <a:gdLst/>
              <a:ahLst/>
              <a:cxnLst/>
              <a:rect l="l" t="t" r="r" b="b"/>
              <a:pathLst>
                <a:path w="4274726" h="1821606">
                  <a:moveTo>
                    <a:pt x="24327" y="0"/>
                  </a:moveTo>
                  <a:lnTo>
                    <a:pt x="4250399" y="0"/>
                  </a:lnTo>
                  <a:cubicBezTo>
                    <a:pt x="4263834" y="0"/>
                    <a:pt x="4274726" y="10891"/>
                    <a:pt x="4274726" y="24327"/>
                  </a:cubicBezTo>
                  <a:lnTo>
                    <a:pt x="4274726" y="1797280"/>
                  </a:lnTo>
                  <a:cubicBezTo>
                    <a:pt x="4274726" y="1810715"/>
                    <a:pt x="4263834" y="1821606"/>
                    <a:pt x="4250399" y="1821606"/>
                  </a:cubicBezTo>
                  <a:lnTo>
                    <a:pt x="24327" y="1821606"/>
                  </a:lnTo>
                  <a:cubicBezTo>
                    <a:pt x="10891" y="1821606"/>
                    <a:pt x="0" y="1810715"/>
                    <a:pt x="0" y="1797280"/>
                  </a:cubicBezTo>
                  <a:lnTo>
                    <a:pt x="0" y="24327"/>
                  </a:lnTo>
                  <a:cubicBezTo>
                    <a:pt x="0" y="10891"/>
                    <a:pt x="10891" y="0"/>
                    <a:pt x="24327" y="0"/>
                  </a:cubicBezTo>
                  <a:close/>
                </a:path>
              </a:pathLst>
            </a:custGeom>
            <a:solidFill>
              <a:srgbClr val="FFFFFF"/>
            </a:solidFill>
          </p:spPr>
          <p:txBody>
            <a:bodyPr/>
            <a:lstStyle/>
            <a:p>
              <a:endParaRPr lang="en-US"/>
            </a:p>
          </p:txBody>
        </p:sp>
        <p:sp>
          <p:nvSpPr>
            <p:cNvPr id="4" name="TextBox 4"/>
            <p:cNvSpPr txBox="1"/>
            <p:nvPr/>
          </p:nvSpPr>
          <p:spPr>
            <a:xfrm>
              <a:off x="0" y="-66675"/>
              <a:ext cx="4274726" cy="1888281"/>
            </a:xfrm>
            <a:prstGeom prst="rect">
              <a:avLst/>
            </a:prstGeom>
          </p:spPr>
          <p:txBody>
            <a:bodyPr lIns="50800" tIns="50800" rIns="50800" bIns="50800" rtlCol="0" anchor="ctr"/>
            <a:lstStyle/>
            <a:p>
              <a:pPr algn="ctr">
                <a:lnSpc>
                  <a:spcPts val="3359"/>
                </a:lnSpc>
              </a:pPr>
              <a:endParaRPr/>
            </a:p>
          </p:txBody>
        </p:sp>
      </p:grpSp>
      <p:sp>
        <p:nvSpPr>
          <p:cNvPr id="5" name="AutoShape 5"/>
          <p:cNvSpPr/>
          <p:nvPr/>
        </p:nvSpPr>
        <p:spPr>
          <a:xfrm flipV="1">
            <a:off x="10132475" y="2691454"/>
            <a:ext cx="0" cy="4418785"/>
          </a:xfrm>
          <a:prstGeom prst="line">
            <a:avLst/>
          </a:prstGeom>
          <a:ln w="38100" cap="flat">
            <a:solidFill>
              <a:srgbClr val="000000"/>
            </a:solidFill>
            <a:prstDash val="solid"/>
            <a:headEnd type="none" w="sm" len="sm"/>
            <a:tailEnd type="none" w="sm" len="sm"/>
          </a:ln>
        </p:spPr>
        <p:txBody>
          <a:bodyPr/>
          <a:lstStyle/>
          <a:p>
            <a:endParaRPr lang="en-US"/>
          </a:p>
        </p:txBody>
      </p:sp>
      <p:grpSp>
        <p:nvGrpSpPr>
          <p:cNvPr id="6" name="Group 6"/>
          <p:cNvGrpSpPr/>
          <p:nvPr/>
        </p:nvGrpSpPr>
        <p:grpSpPr>
          <a:xfrm>
            <a:off x="-362472" y="8229600"/>
            <a:ext cx="19064322" cy="4114800"/>
            <a:chOff x="0" y="0"/>
            <a:chExt cx="2953562" cy="637490"/>
          </a:xfrm>
        </p:grpSpPr>
        <p:sp>
          <p:nvSpPr>
            <p:cNvPr id="7" name="Freeform 7"/>
            <p:cNvSpPr/>
            <p:nvPr/>
          </p:nvSpPr>
          <p:spPr>
            <a:xfrm>
              <a:off x="0" y="0"/>
              <a:ext cx="2953562" cy="637490"/>
            </a:xfrm>
            <a:custGeom>
              <a:avLst/>
              <a:gdLst/>
              <a:ahLst/>
              <a:cxnLst/>
              <a:rect l="l" t="t" r="r" b="b"/>
              <a:pathLst>
                <a:path w="2953562" h="637490">
                  <a:moveTo>
                    <a:pt x="9340" y="0"/>
                  </a:moveTo>
                  <a:lnTo>
                    <a:pt x="2944222" y="0"/>
                  </a:lnTo>
                  <a:cubicBezTo>
                    <a:pt x="2946699" y="0"/>
                    <a:pt x="2949075" y="984"/>
                    <a:pt x="2950827" y="2736"/>
                  </a:cubicBezTo>
                  <a:cubicBezTo>
                    <a:pt x="2952578" y="4487"/>
                    <a:pt x="2953562" y="6863"/>
                    <a:pt x="2953562" y="9340"/>
                  </a:cubicBezTo>
                  <a:lnTo>
                    <a:pt x="2953562" y="628150"/>
                  </a:lnTo>
                  <a:cubicBezTo>
                    <a:pt x="2953562" y="630627"/>
                    <a:pt x="2952578" y="633003"/>
                    <a:pt x="2950827" y="634755"/>
                  </a:cubicBezTo>
                  <a:cubicBezTo>
                    <a:pt x="2949075" y="636506"/>
                    <a:pt x="2946699" y="637490"/>
                    <a:pt x="2944222" y="637490"/>
                  </a:cubicBezTo>
                  <a:lnTo>
                    <a:pt x="9340" y="637490"/>
                  </a:lnTo>
                  <a:cubicBezTo>
                    <a:pt x="6863" y="637490"/>
                    <a:pt x="4487" y="636506"/>
                    <a:pt x="2736" y="634755"/>
                  </a:cubicBezTo>
                  <a:cubicBezTo>
                    <a:pt x="984" y="633003"/>
                    <a:pt x="0" y="630627"/>
                    <a:pt x="0" y="628150"/>
                  </a:cubicBezTo>
                  <a:lnTo>
                    <a:pt x="0" y="9340"/>
                  </a:lnTo>
                  <a:cubicBezTo>
                    <a:pt x="0" y="6863"/>
                    <a:pt x="984" y="4487"/>
                    <a:pt x="2736" y="2736"/>
                  </a:cubicBezTo>
                  <a:cubicBezTo>
                    <a:pt x="4487" y="984"/>
                    <a:pt x="6863" y="0"/>
                    <a:pt x="9340" y="0"/>
                  </a:cubicBezTo>
                  <a:close/>
                </a:path>
              </a:pathLst>
            </a:custGeom>
            <a:blipFill>
              <a:blip r:embed="rId2"/>
              <a:stretch>
                <a:fillRect t="-210418"/>
              </a:stretch>
            </a:blipFill>
          </p:spPr>
          <p:txBody>
            <a:bodyPr/>
            <a:lstStyle/>
            <a:p>
              <a:endParaRPr lang="en-US"/>
            </a:p>
          </p:txBody>
        </p:sp>
      </p:grpSp>
      <p:sp>
        <p:nvSpPr>
          <p:cNvPr id="8" name="Freeform 8"/>
          <p:cNvSpPr/>
          <p:nvPr/>
        </p:nvSpPr>
        <p:spPr>
          <a:xfrm>
            <a:off x="10575453" y="2822791"/>
            <a:ext cx="5916852" cy="3328229"/>
          </a:xfrm>
          <a:custGeom>
            <a:avLst/>
            <a:gdLst/>
            <a:ahLst/>
            <a:cxnLst/>
            <a:rect l="l" t="t" r="r" b="b"/>
            <a:pathLst>
              <a:path w="5916852" h="3328229">
                <a:moveTo>
                  <a:pt x="0" y="0"/>
                </a:moveTo>
                <a:lnTo>
                  <a:pt x="5916852" y="0"/>
                </a:lnTo>
                <a:lnTo>
                  <a:pt x="5916852" y="3328230"/>
                </a:lnTo>
                <a:lnTo>
                  <a:pt x="0" y="3328230"/>
                </a:lnTo>
                <a:lnTo>
                  <a:pt x="0" y="0"/>
                </a:lnTo>
                <a:close/>
              </a:path>
            </a:pathLst>
          </a:custGeom>
          <a:blipFill>
            <a:blip r:embed="rId3"/>
            <a:stretch>
              <a:fillRect/>
            </a:stretch>
          </a:blipFill>
        </p:spPr>
        <p:txBody>
          <a:bodyPr/>
          <a:lstStyle/>
          <a:p>
            <a:endParaRPr lang="en-US"/>
          </a:p>
        </p:txBody>
      </p:sp>
      <p:sp>
        <p:nvSpPr>
          <p:cNvPr id="9" name="TextBox 9"/>
          <p:cNvSpPr txBox="1"/>
          <p:nvPr/>
        </p:nvSpPr>
        <p:spPr>
          <a:xfrm>
            <a:off x="3063302" y="1301107"/>
            <a:ext cx="12161395" cy="1102597"/>
          </a:xfrm>
          <a:prstGeom prst="rect">
            <a:avLst/>
          </a:prstGeom>
        </p:spPr>
        <p:txBody>
          <a:bodyPr lIns="0" tIns="0" rIns="0" bIns="0" rtlCol="0" anchor="t">
            <a:spAutoFit/>
          </a:bodyPr>
          <a:lstStyle/>
          <a:p>
            <a:pPr algn="ctr">
              <a:lnSpc>
                <a:spcPts val="7875"/>
              </a:lnSpc>
            </a:pPr>
            <a:r>
              <a:rPr lang="en-US" sz="7360" b="1">
                <a:solidFill>
                  <a:srgbClr val="0F0E0E"/>
                </a:solidFill>
                <a:latin typeface="Poppins Bold"/>
                <a:ea typeface="Poppins Bold"/>
                <a:cs typeface="Poppins Bold"/>
                <a:sym typeface="Poppins Bold"/>
              </a:rPr>
              <a:t>Conclusion</a:t>
            </a:r>
          </a:p>
        </p:txBody>
      </p:sp>
      <p:sp>
        <p:nvSpPr>
          <p:cNvPr id="10" name="TextBox 10"/>
          <p:cNvSpPr txBox="1"/>
          <p:nvPr/>
        </p:nvSpPr>
        <p:spPr>
          <a:xfrm>
            <a:off x="1761684" y="2704453"/>
            <a:ext cx="7382316" cy="5110918"/>
          </a:xfrm>
          <a:prstGeom prst="rect">
            <a:avLst/>
          </a:prstGeom>
        </p:spPr>
        <p:txBody>
          <a:bodyPr lIns="0" tIns="0" rIns="0" bIns="0" rtlCol="0" anchor="t">
            <a:spAutoFit/>
          </a:bodyPr>
          <a:lstStyle/>
          <a:p>
            <a:pPr algn="just">
              <a:lnSpc>
                <a:spcPts val="3141"/>
              </a:lnSpc>
            </a:pPr>
            <a:r>
              <a:rPr lang="en-US" sz="2243" dirty="0" err="1">
                <a:solidFill>
                  <a:srgbClr val="0F0E0E"/>
                </a:solidFill>
                <a:latin typeface="Poppins"/>
                <a:ea typeface="Poppins"/>
                <a:cs typeface="Poppins"/>
                <a:sym typeface="Poppins"/>
              </a:rPr>
              <a:t>MikroTik</a:t>
            </a:r>
            <a:r>
              <a:rPr lang="en-US" sz="2243" dirty="0">
                <a:solidFill>
                  <a:srgbClr val="0F0E0E"/>
                </a:solidFill>
                <a:latin typeface="Poppins"/>
                <a:ea typeface="Poppins"/>
                <a:cs typeface="Poppins"/>
                <a:sym typeface="Poppins"/>
              </a:rPr>
              <a:t> is a powerful and cost-effective networking solution that combines routing, security, and traffic management features into a single platform. Through its </a:t>
            </a:r>
            <a:r>
              <a:rPr lang="en-US" sz="2243" dirty="0" err="1">
                <a:solidFill>
                  <a:srgbClr val="0F0E0E"/>
                </a:solidFill>
                <a:latin typeface="Poppins"/>
                <a:ea typeface="Poppins"/>
                <a:cs typeface="Poppins"/>
                <a:sym typeface="Poppins"/>
              </a:rPr>
              <a:t>RouterOS</a:t>
            </a:r>
            <a:r>
              <a:rPr lang="en-US" sz="2243" dirty="0">
                <a:solidFill>
                  <a:srgbClr val="0F0E0E"/>
                </a:solidFill>
                <a:latin typeface="Poppins"/>
                <a:ea typeface="Poppins"/>
                <a:cs typeface="Poppins"/>
                <a:sym typeface="Poppins"/>
              </a:rPr>
              <a:t>, it provides essential UTM functions such as DHCP, NAT, firewall filtering, bandwidth control, DNS management, and Kid Control. These features allow </a:t>
            </a:r>
            <a:r>
              <a:rPr lang="en-US" sz="2243" dirty="0" err="1">
                <a:solidFill>
                  <a:srgbClr val="0F0E0E"/>
                </a:solidFill>
                <a:latin typeface="Poppins"/>
                <a:ea typeface="Poppins"/>
                <a:cs typeface="Poppins"/>
                <a:sym typeface="Poppins"/>
              </a:rPr>
              <a:t>MikroTik</a:t>
            </a:r>
            <a:r>
              <a:rPr lang="en-US" sz="2243" dirty="0">
                <a:solidFill>
                  <a:srgbClr val="0F0E0E"/>
                </a:solidFill>
                <a:latin typeface="Poppins"/>
                <a:ea typeface="Poppins"/>
                <a:cs typeface="Poppins"/>
                <a:sym typeface="Poppins"/>
              </a:rPr>
              <a:t> to function not only as a router, but also as a security gateway that improves network stability, protects connected devices, and optimizes internet usage. Because of its flexibility and ease of configuration, </a:t>
            </a:r>
            <a:r>
              <a:rPr lang="en-US" sz="2243" dirty="0" err="1">
                <a:solidFill>
                  <a:srgbClr val="0F0E0E"/>
                </a:solidFill>
                <a:latin typeface="Poppins"/>
                <a:ea typeface="Poppins"/>
                <a:cs typeface="Poppins"/>
                <a:sym typeface="Poppins"/>
              </a:rPr>
              <a:t>MikroTik</a:t>
            </a:r>
            <a:r>
              <a:rPr lang="en-US" sz="2243" dirty="0">
                <a:solidFill>
                  <a:srgbClr val="0F0E0E"/>
                </a:solidFill>
                <a:latin typeface="Poppins"/>
                <a:ea typeface="Poppins"/>
                <a:cs typeface="Poppins"/>
                <a:sym typeface="Poppins"/>
              </a:rPr>
              <a:t> is well suited for laboratories, schools, small businesses, and real-world production networks.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2013680" y="7388324"/>
            <a:ext cx="4027360" cy="4114800"/>
          </a:xfrm>
          <a:custGeom>
            <a:avLst/>
            <a:gdLst/>
            <a:ahLst/>
            <a:cxnLst/>
            <a:rect l="l" t="t" r="r" b="b"/>
            <a:pathLst>
              <a:path w="4027360" h="4114800">
                <a:moveTo>
                  <a:pt x="0" y="0"/>
                </a:moveTo>
                <a:lnTo>
                  <a:pt x="4027360" y="0"/>
                </a:lnTo>
                <a:lnTo>
                  <a:pt x="402736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16274320" y="7200900"/>
            <a:ext cx="4027360" cy="4114800"/>
          </a:xfrm>
          <a:custGeom>
            <a:avLst/>
            <a:gdLst/>
            <a:ahLst/>
            <a:cxnLst/>
            <a:rect l="l" t="t" r="r" b="b"/>
            <a:pathLst>
              <a:path w="4027360" h="4114800">
                <a:moveTo>
                  <a:pt x="0" y="0"/>
                </a:moveTo>
                <a:lnTo>
                  <a:pt x="4027360" y="0"/>
                </a:lnTo>
                <a:lnTo>
                  <a:pt x="402736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3305521" y="-1897664"/>
            <a:ext cx="5773316" cy="4114800"/>
          </a:xfrm>
          <a:custGeom>
            <a:avLst/>
            <a:gdLst/>
            <a:ahLst/>
            <a:cxnLst/>
            <a:rect l="l" t="t" r="r" b="b"/>
            <a:pathLst>
              <a:path w="5773316" h="4114800">
                <a:moveTo>
                  <a:pt x="0" y="0"/>
                </a:moveTo>
                <a:lnTo>
                  <a:pt x="5773316" y="0"/>
                </a:lnTo>
                <a:lnTo>
                  <a:pt x="577331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6" name="TextBox 6"/>
          <p:cNvSpPr txBox="1"/>
          <p:nvPr/>
        </p:nvSpPr>
        <p:spPr>
          <a:xfrm>
            <a:off x="1738277" y="3953713"/>
            <a:ext cx="14811446" cy="2446249"/>
          </a:xfrm>
          <a:prstGeom prst="rect">
            <a:avLst/>
          </a:prstGeom>
        </p:spPr>
        <p:txBody>
          <a:bodyPr lIns="0" tIns="0" rIns="0" bIns="0" rtlCol="0" anchor="t">
            <a:spAutoFit/>
          </a:bodyPr>
          <a:lstStyle/>
          <a:p>
            <a:pPr algn="ctr">
              <a:lnSpc>
                <a:spcPts val="19192"/>
              </a:lnSpc>
              <a:spcBef>
                <a:spcPct val="0"/>
              </a:spcBef>
            </a:pPr>
            <a:r>
              <a:rPr lang="en-US" sz="16545" b="1">
                <a:solidFill>
                  <a:srgbClr val="FFFFFF"/>
                </a:solidFill>
                <a:latin typeface="Antonio Ultra-Bold"/>
                <a:ea typeface="Antonio Ultra-Bold"/>
                <a:cs typeface="Antonio Ultra-Bold"/>
                <a:sym typeface="Antonio Ultra-Bold"/>
              </a:rPr>
              <a:t>THANK YOU</a:t>
            </a:r>
          </a:p>
        </p:txBody>
      </p:sp>
      <p:sp>
        <p:nvSpPr>
          <p:cNvPr id="7" name="TextBox 7"/>
          <p:cNvSpPr txBox="1"/>
          <p:nvPr/>
        </p:nvSpPr>
        <p:spPr>
          <a:xfrm>
            <a:off x="1211780" y="1127985"/>
            <a:ext cx="5833017" cy="424815"/>
          </a:xfrm>
          <a:prstGeom prst="rect">
            <a:avLst/>
          </a:prstGeom>
        </p:spPr>
        <p:txBody>
          <a:bodyPr lIns="0" tIns="0" rIns="0" bIns="0" rtlCol="0" anchor="t">
            <a:spAutoFit/>
          </a:bodyPr>
          <a:lstStyle/>
          <a:p>
            <a:pPr algn="l">
              <a:lnSpc>
                <a:spcPts val="3359"/>
              </a:lnSpc>
            </a:pPr>
            <a:r>
              <a:rPr lang="en-US" sz="2400" spc="-48">
                <a:solidFill>
                  <a:srgbClr val="FFFFFF"/>
                </a:solidFill>
                <a:latin typeface="Poppins"/>
                <a:ea typeface="Poppins"/>
                <a:cs typeface="Poppins"/>
                <a:sym typeface="Poppins"/>
              </a:rPr>
              <a:t>MIKROTIK</a:t>
            </a:r>
          </a:p>
        </p:txBody>
      </p:sp>
      <p:sp>
        <p:nvSpPr>
          <p:cNvPr id="8" name="TextBox 8"/>
          <p:cNvSpPr txBox="1"/>
          <p:nvPr/>
        </p:nvSpPr>
        <p:spPr>
          <a:xfrm>
            <a:off x="11182621" y="1127985"/>
            <a:ext cx="5833017" cy="424815"/>
          </a:xfrm>
          <a:prstGeom prst="rect">
            <a:avLst/>
          </a:prstGeom>
        </p:spPr>
        <p:txBody>
          <a:bodyPr lIns="0" tIns="0" rIns="0" bIns="0" rtlCol="0" anchor="t">
            <a:spAutoFit/>
          </a:bodyPr>
          <a:lstStyle/>
          <a:p>
            <a:pPr algn="r">
              <a:lnSpc>
                <a:spcPts val="3359"/>
              </a:lnSpc>
            </a:pPr>
            <a:r>
              <a:rPr lang="en-US" sz="2400" spc="-48">
                <a:solidFill>
                  <a:srgbClr val="FFFFFF"/>
                </a:solidFill>
                <a:latin typeface="Poppins"/>
                <a:ea typeface="Poppins"/>
                <a:cs typeface="Poppins"/>
                <a:sym typeface="Poppins"/>
              </a:rPr>
              <a:t>December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902</Words>
  <Application>Microsoft Office PowerPoint</Application>
  <PresentationFormat>Custom</PresentationFormat>
  <Paragraphs>141</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Poppins Bold Italics</vt:lpstr>
      <vt:lpstr>Poppins Bold</vt:lpstr>
      <vt:lpstr>Antonio Ultra-Bold</vt:lpstr>
      <vt:lpstr>Canva Sans Bold</vt:lpstr>
      <vt:lpstr>Calibri</vt: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Omandam-Mikrotik</dc:title>
  <cp:lastModifiedBy>jeryl omandam</cp:lastModifiedBy>
  <cp:revision>4</cp:revision>
  <dcterms:created xsi:type="dcterms:W3CDTF">2006-08-16T00:00:00Z</dcterms:created>
  <dcterms:modified xsi:type="dcterms:W3CDTF">2025-12-14T20:07:59Z</dcterms:modified>
  <dc:identifier>DAG7Azpvsu8</dc:identifier>
</cp:coreProperties>
</file>